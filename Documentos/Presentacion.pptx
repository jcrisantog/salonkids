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319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371600" cy="2743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27432" cy="91440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Shape 2"/>
          <p:cNvSpPr/>
          <p:nvPr/>
        </p:nvSpPr>
        <p:spPr>
          <a:xfrm>
            <a:off x="7315200" y="4572000"/>
            <a:ext cx="1371600" cy="2743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8659368" y="3657600"/>
            <a:ext cx="27432" cy="91440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kern="0" spc="800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 ·  2026</a:t>
            </a:r>
            <a:endParaRPr lang="es-MX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40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Automatización Inteligente</a:t>
            </a:r>
            <a:endParaRPr lang="es-MX" sz="40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3200" i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la Gestión de Eventos</a:t>
            </a:r>
            <a:endParaRPr lang="es-MX" sz="3200" noProof="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109728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6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en administración.</a:t>
            </a:r>
            <a:endParaRPr lang="es-MX" sz="1600" noProof="0" dirty="0"/>
          </a:p>
          <a:p>
            <a:pPr marL="0" indent="0">
              <a:buNone/>
            </a:pPr>
            <a:r>
              <a:rPr lang="es-MX" sz="16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tiempo para tus clientes y tu negocio.</a:t>
            </a:r>
            <a:endParaRPr lang="es-MX" sz="1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reto actual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Actualmente cada evento requiere:</a:t>
            </a:r>
            <a:endParaRPr lang="es-MX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1572768" cy="1645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572768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Documentos</a:t>
            </a:r>
            <a:endParaRPr lang="es-MX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2606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Llenado manual de</a:t>
            </a:r>
            <a:endParaRPr lang="es-MX" sz="1000" noProof="0" dirty="0"/>
          </a:p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documentos</a:t>
            </a:r>
            <a:endParaRPr lang="es-MX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2139696" y="2057400"/>
            <a:ext cx="1572768" cy="1645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Shape 8"/>
          <p:cNvSpPr/>
          <p:nvPr/>
        </p:nvSpPr>
        <p:spPr>
          <a:xfrm>
            <a:off x="2139696" y="2057400"/>
            <a:ext cx="1572768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9"/>
          <p:cNvSpPr/>
          <p:nvPr/>
        </p:nvSpPr>
        <p:spPr>
          <a:xfrm>
            <a:off x="2139696" y="21945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</a:t>
            </a:r>
            <a:endParaRPr lang="es-MX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2231136" y="2606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repetida</a:t>
            </a:r>
            <a:endParaRPr lang="es-MX" sz="1000" noProof="0" dirty="0"/>
          </a:p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y otra vez</a:t>
            </a:r>
            <a:endParaRPr lang="es-MX" sz="1000" noProof="0" dirty="0"/>
          </a:p>
        </p:txBody>
      </p:sp>
      <p:sp>
        <p:nvSpPr>
          <p:cNvPr id="13" name="Shape 11"/>
          <p:cNvSpPr/>
          <p:nvPr/>
        </p:nvSpPr>
        <p:spPr>
          <a:xfrm>
            <a:off x="3822192" y="2057400"/>
            <a:ext cx="1572768" cy="1645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Shape 12"/>
          <p:cNvSpPr/>
          <p:nvPr/>
        </p:nvSpPr>
        <p:spPr>
          <a:xfrm>
            <a:off x="3822192" y="2057400"/>
            <a:ext cx="1572768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/>
          <p:nvPr/>
        </p:nvSpPr>
        <p:spPr>
          <a:xfrm>
            <a:off x="3822192" y="21945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Cronogramas</a:t>
            </a:r>
            <a:endParaRPr lang="es-MX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3913632" y="2606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manual</a:t>
            </a:r>
            <a:endParaRPr lang="es-MX" sz="1000" noProof="0" dirty="0"/>
          </a:p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cada agenda</a:t>
            </a:r>
            <a:endParaRPr lang="es-MX" sz="1000" noProof="0" dirty="0"/>
          </a:p>
        </p:txBody>
      </p:sp>
      <p:sp>
        <p:nvSpPr>
          <p:cNvPr id="17" name="Shape 15"/>
          <p:cNvSpPr/>
          <p:nvPr/>
        </p:nvSpPr>
        <p:spPr>
          <a:xfrm>
            <a:off x="5504688" y="2057400"/>
            <a:ext cx="1572768" cy="1645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Shape 16"/>
          <p:cNvSpPr/>
          <p:nvPr/>
        </p:nvSpPr>
        <p:spPr>
          <a:xfrm>
            <a:off x="5504688" y="2057400"/>
            <a:ext cx="1572768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Text 17"/>
          <p:cNvSpPr/>
          <p:nvPr/>
        </p:nvSpPr>
        <p:spPr>
          <a:xfrm>
            <a:off x="5504688" y="21945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Actividades</a:t>
            </a:r>
            <a:endParaRPr lang="es-MX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5596128" y="2606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por</a:t>
            </a:r>
            <a:endParaRPr lang="es-MX" sz="1000" noProof="0" dirty="0"/>
          </a:p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 de tareas</a:t>
            </a:r>
            <a:endParaRPr lang="es-MX" sz="1000" noProof="0" dirty="0"/>
          </a:p>
        </p:txBody>
      </p:sp>
      <p:sp>
        <p:nvSpPr>
          <p:cNvPr id="21" name="Shape 19"/>
          <p:cNvSpPr/>
          <p:nvPr/>
        </p:nvSpPr>
        <p:spPr>
          <a:xfrm>
            <a:off x="7187184" y="2057400"/>
            <a:ext cx="1572768" cy="1645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Shape 20"/>
          <p:cNvSpPr/>
          <p:nvPr/>
        </p:nvSpPr>
        <p:spPr>
          <a:xfrm>
            <a:off x="7187184" y="2057400"/>
            <a:ext cx="1572768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7187184" y="219456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Pendientes</a:t>
            </a:r>
            <a:endParaRPr lang="es-MX" sz="1400" noProof="0" dirty="0"/>
          </a:p>
        </p:txBody>
      </p:sp>
      <p:sp>
        <p:nvSpPr>
          <p:cNvPr id="24" name="Text 22"/>
          <p:cNvSpPr/>
          <p:nvPr/>
        </p:nvSpPr>
        <p:spPr>
          <a:xfrm>
            <a:off x="7278624" y="2606040"/>
            <a:ext cx="138988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manual</a:t>
            </a:r>
            <a:endParaRPr lang="es-MX" sz="1000" noProof="0" dirty="0"/>
          </a:p>
          <a:p>
            <a:pPr marL="0" indent="0" algn="ctr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compromisos</a:t>
            </a:r>
            <a:endParaRPr lang="es-MX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6858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/>
          <p:nvPr/>
        </p:nvSpPr>
        <p:spPr>
          <a:xfrm>
            <a:off x="548640" y="390448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4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invertido por evento:  </a:t>
            </a:r>
            <a:r>
              <a:rPr lang="es-MX" sz="22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8 horas</a:t>
            </a:r>
            <a:endParaRPr lang="es-MX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s-MX" sz="900" noProof="0" dirty="0"/>
          </a:p>
        </p:txBody>
      </p:sp>
      <p:sp>
        <p:nvSpPr>
          <p:cNvPr id="29" name="Shape 27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¿Cuánto tiempo se invierte hoy?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s-MX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3931920" cy="10972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54864" cy="109728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400" b="1" noProof="0" dirty="0">
                <a:solidFill>
                  <a:srgbClr val="D4AF37"/>
                </a:solidFill>
                <a:latin typeface="Georgia" pitchFamily="34" charset="0"/>
              </a:rPr>
              <a:t>8</a:t>
            </a:r>
            <a:endParaRPr lang="es-MX" sz="5400" noProof="0" dirty="0"/>
          </a:p>
        </p:txBody>
      </p:sp>
      <p:sp>
        <p:nvSpPr>
          <p:cNvPr id="8" name="Text 6"/>
          <p:cNvSpPr/>
          <p:nvPr/>
        </p:nvSpPr>
        <p:spPr>
          <a:xfrm>
            <a:off x="2103120" y="2240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horas</a:t>
            </a:r>
            <a:endParaRPr lang="es-MX" sz="1800" noProof="0" dirty="0"/>
          </a:p>
        </p:txBody>
      </p:sp>
      <p:sp>
        <p:nvSpPr>
          <p:cNvPr id="9" name="Text 7"/>
          <p:cNvSpPr/>
          <p:nvPr/>
        </p:nvSpPr>
        <p:spPr>
          <a:xfrm>
            <a:off x="2103120" y="26517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evento</a:t>
            </a:r>
            <a:endParaRPr lang="es-MX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931920" cy="10972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54864" cy="109728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4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s-MX" sz="5400" noProof="0" dirty="0"/>
          </a:p>
        </p:txBody>
      </p:sp>
      <p:sp>
        <p:nvSpPr>
          <p:cNvPr id="13" name="Text 11"/>
          <p:cNvSpPr/>
          <p:nvPr/>
        </p:nvSpPr>
        <p:spPr>
          <a:xfrm>
            <a:off x="2103120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endParaRPr lang="es-MX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2103120" y="38862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semana</a:t>
            </a:r>
            <a:endParaRPr lang="es-MX" sz="1300" noProof="0" dirty="0"/>
          </a:p>
        </p:txBody>
      </p:sp>
      <p:sp>
        <p:nvSpPr>
          <p:cNvPr id="15" name="Text 13"/>
          <p:cNvSpPr/>
          <p:nvPr/>
        </p:nvSpPr>
        <p:spPr>
          <a:xfrm>
            <a:off x="4663440" y="16002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Acumulación del tiempo</a:t>
            </a:r>
            <a:endParaRPr lang="es-MX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s-MX" sz="1200" noProof="0" dirty="0"/>
          </a:p>
        </p:txBody>
      </p:sp>
      <p:sp>
        <p:nvSpPr>
          <p:cNvPr id="17" name="Shape 15"/>
          <p:cNvSpPr/>
          <p:nvPr/>
        </p:nvSpPr>
        <p:spPr>
          <a:xfrm>
            <a:off x="5577840" y="2148840"/>
            <a:ext cx="3017520" cy="274320"/>
          </a:xfrm>
          <a:prstGeom prst="rect">
            <a:avLst/>
          </a:prstGeom>
          <a:solidFill>
            <a:srgbClr val="2A1B4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Shape 16"/>
          <p:cNvSpPr/>
          <p:nvPr/>
        </p:nvSpPr>
        <p:spPr>
          <a:xfrm>
            <a:off x="5577840" y="2148840"/>
            <a:ext cx="435541" cy="274320"/>
          </a:xfrm>
          <a:prstGeom prst="rect">
            <a:avLst/>
          </a:prstGeom>
          <a:solidFill>
            <a:srgbClr val="6B4A9C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Text 17"/>
          <p:cNvSpPr/>
          <p:nvPr/>
        </p:nvSpPr>
        <p:spPr>
          <a:xfrm>
            <a:off x="557784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h</a:t>
            </a:r>
            <a:endParaRPr lang="es-MX" sz="1200" noProof="0" dirty="0"/>
          </a:p>
        </p:txBody>
      </p:sp>
      <p:sp>
        <p:nvSpPr>
          <p:cNvPr id="20" name="Text 18"/>
          <p:cNvSpPr/>
          <p:nvPr/>
        </p:nvSpPr>
        <p:spPr>
          <a:xfrm>
            <a:off x="4663440" y="29718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</a:t>
            </a:r>
            <a:endParaRPr lang="es-MX" sz="1200" noProof="0" dirty="0"/>
          </a:p>
        </p:txBody>
      </p:sp>
      <p:sp>
        <p:nvSpPr>
          <p:cNvPr id="21" name="Shape 19"/>
          <p:cNvSpPr/>
          <p:nvPr/>
        </p:nvSpPr>
        <p:spPr>
          <a:xfrm>
            <a:off x="5577840" y="3017520"/>
            <a:ext cx="3017520" cy="274320"/>
          </a:xfrm>
          <a:prstGeom prst="rect">
            <a:avLst/>
          </a:prstGeom>
          <a:solidFill>
            <a:srgbClr val="2A1B4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Shape 20"/>
          <p:cNvSpPr/>
          <p:nvPr/>
        </p:nvSpPr>
        <p:spPr>
          <a:xfrm>
            <a:off x="5577840" y="3017520"/>
            <a:ext cx="871083" cy="274320"/>
          </a:xfrm>
          <a:prstGeom prst="rect">
            <a:avLst/>
          </a:prstGeom>
          <a:solidFill>
            <a:srgbClr val="6B4A9C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5577840" y="3337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 h</a:t>
            </a:r>
            <a:endParaRPr lang="es-MX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466344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</a:t>
            </a:r>
            <a:endParaRPr lang="es-MX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5577840" y="3886200"/>
            <a:ext cx="3017520" cy="274320"/>
          </a:xfrm>
          <a:prstGeom prst="rect">
            <a:avLst/>
          </a:prstGeom>
          <a:solidFill>
            <a:srgbClr val="2A1B4A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Shape 24"/>
          <p:cNvSpPr/>
          <p:nvPr/>
        </p:nvSpPr>
        <p:spPr>
          <a:xfrm>
            <a:off x="5577840" y="3886200"/>
            <a:ext cx="3017520" cy="2743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Text 25"/>
          <p:cNvSpPr/>
          <p:nvPr/>
        </p:nvSpPr>
        <p:spPr>
          <a:xfrm>
            <a:off x="5577840" y="4206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1,152 h</a:t>
            </a:r>
            <a:endParaRPr lang="es-MX" sz="1200" noProof="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i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de 1,000 horas al año dedicadas a tareas administrativas repetitivas.</a:t>
            </a:r>
            <a:endParaRPr lang="es-MX" sz="1100" noProof="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1" name="Text 29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s-MX" sz="900" noProof="0" dirty="0"/>
          </a:p>
        </p:txBody>
      </p:sp>
      <p:sp>
        <p:nvSpPr>
          <p:cNvPr id="32" name="Shape 30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verdadero costo no es el dinero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hora invertida en tareas administrativas es una hora menos para:</a:t>
            </a:r>
            <a:endParaRPr lang="es-MX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313432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clientes con dedicación</a:t>
            </a:r>
            <a:endParaRPr lang="es-MX" sz="170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2724912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nuevos eventos</a:t>
            </a:r>
            <a:endParaRPr lang="es-MX" sz="17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3136392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1280160" y="30175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la operación diaria</a:t>
            </a:r>
            <a:endParaRPr lang="es-MX" sz="170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1280160" y="3429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el servicio que ofrece</a:t>
            </a:r>
            <a:endParaRPr lang="es-MX" sz="1700" noProof="0" dirty="0"/>
          </a:p>
        </p:txBody>
      </p:sp>
      <p:sp>
        <p:nvSpPr>
          <p:cNvPr id="13" name="Shape 11"/>
          <p:cNvSpPr/>
          <p:nvPr/>
        </p:nvSpPr>
        <p:spPr>
          <a:xfrm>
            <a:off x="914400" y="3959352"/>
            <a:ext cx="164592" cy="16459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12"/>
          <p:cNvSpPr/>
          <p:nvPr/>
        </p:nvSpPr>
        <p:spPr>
          <a:xfrm>
            <a:off x="1280160" y="38404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más tiempo personal</a:t>
            </a:r>
            <a:endParaRPr lang="es-MX" sz="1700" noProof="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tiempo es el recurso más valioso del negocio.</a:t>
            </a:r>
            <a:endParaRPr lang="es-MX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18" name="Text 16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s-MX" sz="900" noProof="0" dirty="0"/>
          </a:p>
        </p:txBody>
      </p:sp>
      <p:sp>
        <p:nvSpPr>
          <p:cNvPr id="19" name="Shape 17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 captura. Múltiples resultados.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518904" y="2326141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518904" y="2326141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sola</a:t>
            </a:r>
            <a:endParaRPr lang="es-MX" sz="2200" noProof="0" dirty="0"/>
          </a:p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captura</a:t>
            </a:r>
            <a:endParaRPr lang="es-MX" sz="2200" noProof="0" dirty="0"/>
          </a:p>
        </p:txBody>
      </p:sp>
      <p:sp>
        <p:nvSpPr>
          <p:cNvPr id="6" name="Shape 4"/>
          <p:cNvSpPr/>
          <p:nvPr/>
        </p:nvSpPr>
        <p:spPr>
          <a:xfrm>
            <a:off x="2509398" y="3011941"/>
            <a:ext cx="82296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7" name="Shape 5"/>
          <p:cNvSpPr/>
          <p:nvPr/>
        </p:nvSpPr>
        <p:spPr>
          <a:xfrm>
            <a:off x="3307824" y="2946223"/>
            <a:ext cx="108000" cy="10800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8" name="Shape 6"/>
          <p:cNvSpPr/>
          <p:nvPr/>
        </p:nvSpPr>
        <p:spPr>
          <a:xfrm>
            <a:off x="3452418" y="1783080"/>
            <a:ext cx="2560320" cy="114300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Shape 7"/>
          <p:cNvSpPr/>
          <p:nvPr/>
        </p:nvSpPr>
        <p:spPr>
          <a:xfrm>
            <a:off x="3452418" y="1783080"/>
            <a:ext cx="45720" cy="114300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Text 8"/>
          <p:cNvSpPr/>
          <p:nvPr/>
        </p:nvSpPr>
        <p:spPr>
          <a:xfrm>
            <a:off x="3589578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generados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automáticamente</a:t>
            </a:r>
            <a:endParaRPr lang="es-MX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6097860" y="1783080"/>
            <a:ext cx="2560320" cy="114300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Shape 10"/>
          <p:cNvSpPr/>
          <p:nvPr/>
        </p:nvSpPr>
        <p:spPr>
          <a:xfrm>
            <a:off x="6097860" y="1783080"/>
            <a:ext cx="45720" cy="114300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6235020" y="178308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Cronogramas listos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esfuerzo</a:t>
            </a:r>
            <a:endParaRPr lang="es-MX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3452418" y="3108960"/>
            <a:ext cx="2560320" cy="114300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Shape 13"/>
          <p:cNvSpPr/>
          <p:nvPr/>
        </p:nvSpPr>
        <p:spPr>
          <a:xfrm>
            <a:off x="3452418" y="3108960"/>
            <a:ext cx="45720" cy="114300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3589578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organizadas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asignadas</a:t>
            </a:r>
            <a:endParaRPr lang="es-MX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6097860" y="3108960"/>
            <a:ext cx="2560320" cy="114300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Shape 16"/>
          <p:cNvSpPr/>
          <p:nvPr/>
        </p:nvSpPr>
        <p:spPr>
          <a:xfrm>
            <a:off x="6097860" y="3108960"/>
            <a:ext cx="45720" cy="114300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Text 17"/>
          <p:cNvSpPr/>
          <p:nvPr/>
        </p:nvSpPr>
        <p:spPr>
          <a:xfrm>
            <a:off x="6235020" y="310896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centralizada</a:t>
            </a:r>
            <a:endParaRPr lang="es-MX" sz="1600" noProof="0" dirty="0"/>
          </a:p>
          <a:p>
            <a:pPr marL="0" indent="0" algn="ctr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siempre lista</a:t>
            </a:r>
            <a:endParaRPr lang="es-MX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trabajo repetitivo. Más control.</a:t>
            </a:r>
            <a:endParaRPr lang="es-MX" sz="1100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s-MX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5" name="Abrir corchete 24">
            <a:extLst>
              <a:ext uri="{FF2B5EF4-FFF2-40B4-BE49-F238E27FC236}">
                <a16:creationId xmlns:a16="http://schemas.microsoft.com/office/drawing/2014/main" id="{B3A42F26-9264-593D-5C97-BEF95BFDBC42}"/>
              </a:ext>
            </a:extLst>
          </p:cNvPr>
          <p:cNvSpPr/>
          <p:nvPr/>
        </p:nvSpPr>
        <p:spPr>
          <a:xfrm>
            <a:off x="3363805" y="1747024"/>
            <a:ext cx="45719" cy="2527237"/>
          </a:xfrm>
          <a:prstGeom prst="leftBracket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Abrir corchete 26">
            <a:extLst>
              <a:ext uri="{FF2B5EF4-FFF2-40B4-BE49-F238E27FC236}">
                <a16:creationId xmlns:a16="http://schemas.microsoft.com/office/drawing/2014/main" id="{9D8E2424-64FF-C081-60C5-E5C8A8CBD79B}"/>
              </a:ext>
            </a:extLst>
          </p:cNvPr>
          <p:cNvSpPr/>
          <p:nvPr/>
        </p:nvSpPr>
        <p:spPr>
          <a:xfrm rot="10800000">
            <a:off x="8697776" y="1743310"/>
            <a:ext cx="45719" cy="2527237"/>
          </a:xfrm>
          <a:prstGeom prst="leftBracket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 y después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2A1B4A"/>
          </a:solidFill>
          <a:ln w="12700">
            <a:solidFill>
              <a:srgbClr val="8E8A99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023360" cy="640080"/>
          </a:xfrm>
          <a:prstGeom prst="rect">
            <a:avLst/>
          </a:prstGeom>
          <a:solidFill>
            <a:srgbClr val="8E8A9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kern="0" spc="400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ANTES</a:t>
            </a:r>
            <a:endParaRPr lang="es-MX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manual</a:t>
            </a:r>
            <a:endParaRPr lang="es-MX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731520" y="2816352"/>
            <a:ext cx="109728" cy="109728"/>
          </a:xfrm>
          <a:prstGeom prst="ellipse">
            <a:avLst/>
          </a:prstGeom>
          <a:solidFill>
            <a:srgbClr val="8E8A9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horas por evento</a:t>
            </a:r>
            <a:endParaRPr lang="es-MX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109728" cy="109728"/>
          </a:xfrm>
          <a:prstGeom prst="ellipse">
            <a:avLst/>
          </a:prstGeom>
          <a:solidFill>
            <a:srgbClr val="8E8A9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manuales</a:t>
            </a:r>
            <a:endParaRPr lang="es-MX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731520" y="3584448"/>
            <a:ext cx="109728" cy="109728"/>
          </a:xfrm>
          <a:prstGeom prst="ellipse">
            <a:avLst/>
          </a:prstGeom>
          <a:solidFill>
            <a:srgbClr val="8E8A9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91440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duplicada</a:t>
            </a:r>
            <a:endParaRPr lang="es-MX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731520" y="3968496"/>
            <a:ext cx="109728" cy="109728"/>
          </a:xfrm>
          <a:prstGeom prst="ellipse">
            <a:avLst/>
          </a:prstGeom>
          <a:solidFill>
            <a:srgbClr val="8E8A9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/>
          <p:nvPr/>
        </p:nvSpPr>
        <p:spPr>
          <a:xfrm>
            <a:off x="914400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de errores</a:t>
            </a:r>
            <a:endParaRPr lang="es-MX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731520" y="4352544"/>
            <a:ext cx="109728" cy="109728"/>
          </a:xfrm>
          <a:prstGeom prst="ellipse">
            <a:avLst/>
          </a:prstGeom>
          <a:solidFill>
            <a:srgbClr val="8E8A99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914400" y="4233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dependientes de personas</a:t>
            </a:r>
            <a:endParaRPr lang="es-MX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023360" cy="64008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4663440" y="1600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kern="0" spc="400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DESPUÉS</a:t>
            </a:r>
            <a:endParaRPr lang="es-MX" sz="2200" noProof="0" dirty="0"/>
          </a:p>
        </p:txBody>
      </p:sp>
      <p:sp>
        <p:nvSpPr>
          <p:cNvPr id="21" name="Text 19"/>
          <p:cNvSpPr/>
          <p:nvPr/>
        </p:nvSpPr>
        <p:spPr>
          <a:xfrm>
            <a:off x="4663440" y="2286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 automatizada</a:t>
            </a:r>
            <a:endParaRPr lang="es-MX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937760" y="2816352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5120640" y="2697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 60 min por evento</a:t>
            </a:r>
            <a:endParaRPr lang="es-MX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4937760" y="3200400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5" name="Text 23"/>
          <p:cNvSpPr/>
          <p:nvPr/>
        </p:nvSpPr>
        <p:spPr>
          <a:xfrm>
            <a:off x="5120640" y="30815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centralizada</a:t>
            </a:r>
            <a:endParaRPr lang="es-MX" sz="1200" noProof="0" dirty="0"/>
          </a:p>
        </p:txBody>
      </p:sp>
      <p:sp>
        <p:nvSpPr>
          <p:cNvPr id="26" name="Shape 24"/>
          <p:cNvSpPr/>
          <p:nvPr/>
        </p:nvSpPr>
        <p:spPr>
          <a:xfrm>
            <a:off x="4937760" y="3584448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7" name="Text 25"/>
          <p:cNvSpPr/>
          <p:nvPr/>
        </p:nvSpPr>
        <p:spPr>
          <a:xfrm>
            <a:off x="5120640" y="346557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automatizados</a:t>
            </a:r>
            <a:endParaRPr lang="es-MX" sz="1200" noProof="0" dirty="0"/>
          </a:p>
        </p:txBody>
      </p:sp>
      <p:sp>
        <p:nvSpPr>
          <p:cNvPr id="28" name="Shape 26"/>
          <p:cNvSpPr/>
          <p:nvPr/>
        </p:nvSpPr>
        <p:spPr>
          <a:xfrm>
            <a:off x="4937760" y="396849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9" name="Text 27"/>
          <p:cNvSpPr/>
          <p:nvPr/>
        </p:nvSpPr>
        <p:spPr>
          <a:xfrm>
            <a:off x="5120640" y="38496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</a:t>
            </a:r>
            <a:endParaRPr lang="es-MX" sz="1200" noProof="0" dirty="0"/>
          </a:p>
        </p:txBody>
      </p:sp>
      <p:sp>
        <p:nvSpPr>
          <p:cNvPr id="30" name="Shape 28"/>
          <p:cNvSpPr/>
          <p:nvPr/>
        </p:nvSpPr>
        <p:spPr>
          <a:xfrm>
            <a:off x="4937760" y="4352544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5120640" y="4233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control operativo</a:t>
            </a:r>
            <a:endParaRPr lang="es-MX" sz="1200" noProof="0" dirty="0"/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3" name="Text 3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s-MX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realmente gana el negocio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06040" cy="13258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s-MX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tiempo disponible</a:t>
            </a:r>
            <a:endParaRPr lang="es-MX" sz="1400" noProof="0" dirty="0"/>
          </a:p>
        </p:txBody>
      </p:sp>
      <p:sp>
        <p:nvSpPr>
          <p:cNvPr id="8" name="Text 6"/>
          <p:cNvSpPr/>
          <p:nvPr/>
        </p:nvSpPr>
        <p:spPr>
          <a:xfrm>
            <a:off x="1371600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horas para lo que importa.</a:t>
            </a:r>
            <a:endParaRPr lang="es-MX" sz="1000" noProof="0" dirty="0"/>
          </a:p>
        </p:txBody>
      </p:sp>
      <p:sp>
        <p:nvSpPr>
          <p:cNvPr id="9" name="Shape 7"/>
          <p:cNvSpPr/>
          <p:nvPr/>
        </p:nvSpPr>
        <p:spPr>
          <a:xfrm>
            <a:off x="3182112" y="1600200"/>
            <a:ext cx="2606040" cy="13258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0" name="Shape 8"/>
          <p:cNvSpPr/>
          <p:nvPr/>
        </p:nvSpPr>
        <p:spPr>
          <a:xfrm>
            <a:off x="3364992" y="17830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9"/>
          <p:cNvSpPr/>
          <p:nvPr/>
        </p:nvSpPr>
        <p:spPr>
          <a:xfrm>
            <a:off x="3364992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s-MX" sz="2200" noProof="0" dirty="0"/>
          </a:p>
        </p:txBody>
      </p:sp>
      <p:sp>
        <p:nvSpPr>
          <p:cNvPr id="12" name="Text 10"/>
          <p:cNvSpPr/>
          <p:nvPr/>
        </p:nvSpPr>
        <p:spPr>
          <a:xfrm>
            <a:off x="4096512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capacidad operativa</a:t>
            </a:r>
            <a:endParaRPr lang="es-MX" sz="1400" noProof="0" dirty="0"/>
          </a:p>
        </p:txBody>
      </p:sp>
      <p:sp>
        <p:nvSpPr>
          <p:cNvPr id="13" name="Text 11"/>
          <p:cNvSpPr/>
          <p:nvPr/>
        </p:nvSpPr>
        <p:spPr>
          <a:xfrm>
            <a:off x="4096512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Atiende más eventos sin sobrecarga.</a:t>
            </a:r>
            <a:endParaRPr lang="es-MX" sz="1000" noProof="0" dirty="0"/>
          </a:p>
        </p:txBody>
      </p:sp>
      <p:sp>
        <p:nvSpPr>
          <p:cNvPr id="14" name="Shape 12"/>
          <p:cNvSpPr/>
          <p:nvPr/>
        </p:nvSpPr>
        <p:spPr>
          <a:xfrm>
            <a:off x="5907024" y="1600200"/>
            <a:ext cx="2606040" cy="13258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Shape 13"/>
          <p:cNvSpPr/>
          <p:nvPr/>
        </p:nvSpPr>
        <p:spPr>
          <a:xfrm>
            <a:off x="6089904" y="1783080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6089904" y="1783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</a:t>
            </a:r>
            <a:endParaRPr lang="es-MX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6821424" y="18013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estrés administrativo</a:t>
            </a:r>
            <a:endParaRPr lang="es-MX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6821424" y="2167128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claros y consistentes.</a:t>
            </a:r>
            <a:endParaRPr lang="es-MX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57200" y="3090672"/>
            <a:ext cx="2606040" cy="13258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327355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</a:t>
            </a:r>
            <a:endParaRPr lang="es-MX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1371600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estandarizados</a:t>
            </a:r>
            <a:endParaRPr lang="es-MX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1371600" y="3657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pareja en cada evento.</a:t>
            </a:r>
            <a:endParaRPr lang="es-MX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3182112" y="3090672"/>
            <a:ext cx="2606040" cy="13258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5" name="Shape 23"/>
          <p:cNvSpPr/>
          <p:nvPr/>
        </p:nvSpPr>
        <p:spPr>
          <a:xfrm>
            <a:off x="3364992" y="327355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6" name="Text 24"/>
          <p:cNvSpPr/>
          <p:nvPr/>
        </p:nvSpPr>
        <p:spPr>
          <a:xfrm>
            <a:off x="3364992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endParaRPr lang="es-MX" sz="2200" noProof="0" dirty="0"/>
          </a:p>
        </p:txBody>
      </p:sp>
      <p:sp>
        <p:nvSpPr>
          <p:cNvPr id="27" name="Text 25"/>
          <p:cNvSpPr/>
          <p:nvPr/>
        </p:nvSpPr>
        <p:spPr>
          <a:xfrm>
            <a:off x="4096512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 organización</a:t>
            </a:r>
            <a:endParaRPr lang="es-MX" sz="1400" noProof="0" dirty="0"/>
          </a:p>
        </p:txBody>
      </p:sp>
      <p:sp>
        <p:nvSpPr>
          <p:cNvPr id="28" name="Text 26"/>
          <p:cNvSpPr/>
          <p:nvPr/>
        </p:nvSpPr>
        <p:spPr>
          <a:xfrm>
            <a:off x="4096512" y="3657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información en un solo lugar.</a:t>
            </a:r>
            <a:endParaRPr lang="es-MX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5907024" y="3090672"/>
            <a:ext cx="2606040" cy="132588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0" name="Shape 28"/>
          <p:cNvSpPr/>
          <p:nvPr/>
        </p:nvSpPr>
        <p:spPr>
          <a:xfrm>
            <a:off x="6089904" y="3273552"/>
            <a:ext cx="594360" cy="594360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6089904" y="327355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2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♥</a:t>
            </a:r>
            <a:endParaRPr lang="es-MX" sz="2200" noProof="0" dirty="0"/>
          </a:p>
        </p:txBody>
      </p:sp>
      <p:sp>
        <p:nvSpPr>
          <p:cNvPr id="32" name="Text 30"/>
          <p:cNvSpPr/>
          <p:nvPr/>
        </p:nvSpPr>
        <p:spPr>
          <a:xfrm>
            <a:off x="6821424" y="3291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Mejor atención al cliente</a:t>
            </a:r>
            <a:endParaRPr lang="es-MX" sz="1400" noProof="0" dirty="0"/>
          </a:p>
        </p:txBody>
      </p:sp>
      <p:sp>
        <p:nvSpPr>
          <p:cNvPr id="33" name="Text 31"/>
          <p:cNvSpPr/>
          <p:nvPr/>
        </p:nvSpPr>
        <p:spPr>
          <a:xfrm>
            <a:off x="6821424" y="365760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en la experiencia, no en papeles.</a:t>
            </a:r>
            <a:endParaRPr lang="es-MX" sz="1000" noProof="0" dirty="0"/>
          </a:p>
        </p:txBody>
      </p:sp>
      <p:sp>
        <p:nvSpPr>
          <p:cNvPr id="34" name="Text 32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5" name="Text 33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s-MX" sz="900" noProof="0" dirty="0"/>
          </a:p>
        </p:txBody>
      </p:sp>
      <p:sp>
        <p:nvSpPr>
          <p:cNvPr id="36" name="Shape 34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pic>
        <p:nvPicPr>
          <p:cNvPr id="40" name="Gráfico 39" descr="Reloj de arena lleno con relleno sólido">
            <a:extLst>
              <a:ext uri="{FF2B5EF4-FFF2-40B4-BE49-F238E27FC236}">
                <a16:creationId xmlns:a16="http://schemas.microsoft.com/office/drawing/2014/main" id="{52CBAF2F-CD09-6809-4AC2-0D8533073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260" y="1828260"/>
            <a:ext cx="504000" cy="50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inversión que se recupera rápido</a:t>
            </a:r>
            <a:endParaRPr lang="es-MX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conservador</a:t>
            </a:r>
            <a:endParaRPr lang="es-MX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4114800" cy="502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mensual</a:t>
            </a:r>
            <a:endParaRPr lang="es-MX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 horas</a:t>
            </a:r>
            <a:endParaRPr lang="es-MX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4114800" cy="50292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de cada hora</a:t>
            </a:r>
            <a:endParaRPr lang="es-MX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2743200" y="27432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4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 MXN</a:t>
            </a:r>
            <a:endParaRPr lang="es-MX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4114800" cy="50292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recuperado / mes</a:t>
            </a:r>
            <a:endParaRPr lang="es-MX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2743200" y="33832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5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$4,800 MXN</a:t>
            </a:r>
            <a:endParaRPr lang="es-MX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4846320" y="16002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4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vs. retorno mensual</a:t>
            </a:r>
            <a:endParaRPr lang="es-MX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única</a:t>
            </a:r>
            <a:endParaRPr lang="es-MX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846320" y="2487168"/>
            <a:ext cx="1005840" cy="320040"/>
          </a:xfrm>
          <a:prstGeom prst="rect">
            <a:avLst/>
          </a:prstGeom>
          <a:solidFill>
            <a:srgbClr val="6B4A9C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5897880" y="2468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s-MX" sz="1300" noProof="0" dirty="0"/>
          </a:p>
        </p:txBody>
      </p:sp>
      <p:sp>
        <p:nvSpPr>
          <p:cNvPr id="18" name="Text 16"/>
          <p:cNvSpPr/>
          <p:nvPr/>
        </p:nvSpPr>
        <p:spPr>
          <a:xfrm>
            <a:off x="4846320" y="3063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en el segundo mes</a:t>
            </a:r>
            <a:endParaRPr lang="es-MX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4846320" y="3355848"/>
            <a:ext cx="3383280" cy="3200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4937760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$9,600</a:t>
            </a:r>
            <a:endParaRPr lang="es-MX" sz="1400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b="1" i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 ×  el costo recuperado en 60 días</a:t>
            </a:r>
            <a:endParaRPr lang="es-MX" sz="1300" noProof="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inversión se recupera en casi dos meses.</a:t>
            </a:r>
            <a:endParaRPr lang="es-MX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/>
          </a:p>
        </p:txBody>
      </p:sp>
      <p:sp>
        <p:nvSpPr>
          <p:cNvPr id="25" name="Text 23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s-MX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463040"/>
            <a:ext cx="3657600" cy="2377440"/>
          </a:xfrm>
          <a:prstGeom prst="rect">
            <a:avLst/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1554480"/>
            <a:ext cx="3657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30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s-MX" sz="13000" noProof="0" dirty="0"/>
          </a:p>
        </p:txBody>
      </p:sp>
      <p:sp>
        <p:nvSpPr>
          <p:cNvPr id="4" name="Text 2"/>
          <p:cNvSpPr/>
          <p:nvPr/>
        </p:nvSpPr>
        <p:spPr>
          <a:xfrm>
            <a:off x="3657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600" i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horas libres al mes</a:t>
            </a:r>
            <a:endParaRPr lang="es-MX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36576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2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recuperadas para el negocio</a:t>
            </a:r>
            <a:endParaRPr lang="es-MX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4297680" y="77724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7" name="Text 5"/>
          <p:cNvSpPr/>
          <p:nvPr/>
        </p:nvSpPr>
        <p:spPr>
          <a:xfrm>
            <a:off x="4297680" y="868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harías con todo ese tiempo?</a:t>
            </a:r>
            <a:endParaRPr lang="es-MX" sz="2200" noProof="0" dirty="0"/>
          </a:p>
        </p:txBody>
      </p:sp>
      <p:sp>
        <p:nvSpPr>
          <p:cNvPr id="8" name="Shape 6"/>
          <p:cNvSpPr/>
          <p:nvPr/>
        </p:nvSpPr>
        <p:spPr>
          <a:xfrm>
            <a:off x="4297680" y="193852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4297680" y="1938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Atender a más clientes</a:t>
            </a:r>
            <a:endParaRPr lang="es-MX" sz="1600" noProof="0" dirty="0"/>
          </a:p>
        </p:txBody>
      </p:sp>
      <p:sp>
        <p:nvSpPr>
          <p:cNvPr id="11" name="Shape 9"/>
          <p:cNvSpPr/>
          <p:nvPr/>
        </p:nvSpPr>
        <p:spPr>
          <a:xfrm>
            <a:off x="4297680" y="244144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29768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más eventos</a:t>
            </a:r>
            <a:endParaRPr lang="es-MX" sz="1600" noProof="0" dirty="0"/>
          </a:p>
        </p:txBody>
      </p:sp>
      <p:sp>
        <p:nvSpPr>
          <p:cNvPr id="14" name="Shape 12"/>
          <p:cNvSpPr/>
          <p:nvPr/>
        </p:nvSpPr>
        <p:spPr>
          <a:xfrm>
            <a:off x="4297680" y="294436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Text 13"/>
          <p:cNvSpPr/>
          <p:nvPr/>
        </p:nvSpPr>
        <p:spPr>
          <a:xfrm>
            <a:off x="4297680" y="2944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461772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Mejorar la experiencia que ofreces</a:t>
            </a:r>
            <a:endParaRPr lang="es-MX" sz="1600" noProof="0" dirty="0"/>
          </a:p>
        </p:txBody>
      </p:sp>
      <p:sp>
        <p:nvSpPr>
          <p:cNvPr id="17" name="Shape 15"/>
          <p:cNvSpPr/>
          <p:nvPr/>
        </p:nvSpPr>
        <p:spPr>
          <a:xfrm>
            <a:off x="4297680" y="344728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4297680" y="3447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4617720" y="3337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con mayor facilidad</a:t>
            </a:r>
            <a:endParaRPr lang="es-MX" sz="1600" noProof="0" dirty="0"/>
          </a:p>
        </p:txBody>
      </p:sp>
      <p:sp>
        <p:nvSpPr>
          <p:cNvPr id="20" name="Shape 18"/>
          <p:cNvSpPr/>
          <p:nvPr/>
        </p:nvSpPr>
        <p:spPr>
          <a:xfrm>
            <a:off x="4297680" y="3950208"/>
            <a:ext cx="201168" cy="201168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21" name="Text 19"/>
          <p:cNvSpPr/>
          <p:nvPr/>
        </p:nvSpPr>
        <p:spPr>
          <a:xfrm>
            <a:off x="4297680" y="39502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1E11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s-MX" sz="1200" noProof="0" dirty="0"/>
          </a:p>
        </p:txBody>
      </p:sp>
      <p:sp>
        <p:nvSpPr>
          <p:cNvPr id="22" name="Text 20"/>
          <p:cNvSpPr/>
          <p:nvPr/>
        </p:nvSpPr>
        <p:spPr>
          <a:xfrm>
            <a:off x="461772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Tener más tiempo para ti y tu familia</a:t>
            </a:r>
            <a:endParaRPr lang="es-MX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formas de operar el sistema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3200400"/>
          </a:xfrm>
          <a:prstGeom prst="rect">
            <a:avLst/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400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1</a:t>
            </a:r>
            <a:endParaRPr lang="es-MX" sz="900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Local</a:t>
            </a:r>
            <a:endParaRPr lang="es-MX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en una computadora</a:t>
            </a:r>
            <a:endParaRPr lang="es-MX" sz="1100" noProof="0" dirty="0"/>
          </a:p>
        </p:txBody>
      </p:sp>
      <p:sp>
        <p:nvSpPr>
          <p:cNvPr id="8" name="Text 6"/>
          <p:cNvSpPr/>
          <p:nvPr/>
        </p:nvSpPr>
        <p:spPr>
          <a:xfrm>
            <a:off x="64008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MX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Menor costo total</a:t>
            </a:r>
            <a:endParaRPr lang="es-MX" sz="1000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Sin mensualidades</a:t>
            </a:r>
            <a:endParaRPr lang="es-MX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Información en sitio</a:t>
            </a:r>
            <a:endParaRPr lang="es-MX" sz="1000" noProof="0" dirty="0"/>
          </a:p>
        </p:txBody>
      </p:sp>
      <p:sp>
        <p:nvSpPr>
          <p:cNvPr id="12" name="Text 10"/>
          <p:cNvSpPr/>
          <p:nvPr/>
        </p:nvSpPr>
        <p:spPr>
          <a:xfrm>
            <a:off x="246888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rgbClr val="8E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considerar</a:t>
            </a:r>
            <a:endParaRPr lang="es-MX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246888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Acceso limitado</a:t>
            </a:r>
            <a:endParaRPr lang="es-MX" sz="1000" noProof="0" dirty="0"/>
          </a:p>
        </p:txBody>
      </p:sp>
      <p:sp>
        <p:nvSpPr>
          <p:cNvPr id="14" name="Text 12"/>
          <p:cNvSpPr/>
          <p:nvPr/>
        </p:nvSpPr>
        <p:spPr>
          <a:xfrm>
            <a:off x="246888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Respaldos manuales</a:t>
            </a:r>
            <a:endParaRPr lang="es-MX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246888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Depende de un equipo</a:t>
            </a:r>
            <a:endParaRPr lang="es-MX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4251960"/>
            <a:ext cx="4023360" cy="502920"/>
          </a:xfrm>
          <a:prstGeom prst="rect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MXN</a:t>
            </a:r>
            <a:endParaRPr lang="es-MX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228600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0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única</a:t>
            </a:r>
            <a:endParaRPr lang="es-MX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4663440" y="1554480"/>
            <a:ext cx="4023360" cy="3200400"/>
          </a:xfrm>
          <a:prstGeom prst="rect">
            <a:avLst/>
          </a:prstGeom>
          <a:solidFill>
            <a:srgbClr val="2A1B4A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4846320" y="16916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400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2</a:t>
            </a:r>
            <a:endParaRPr lang="es-MX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4846320" y="193852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en la Nube</a:t>
            </a:r>
            <a:endParaRPr lang="es-MX" sz="2200" noProof="0" dirty="0"/>
          </a:p>
        </p:txBody>
      </p:sp>
      <p:sp>
        <p:nvSpPr>
          <p:cNvPr id="22" name="Text 20"/>
          <p:cNvSpPr/>
          <p:nvPr/>
        </p:nvSpPr>
        <p:spPr>
          <a:xfrm>
            <a:off x="4846320" y="2359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1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cualquier lugar</a:t>
            </a:r>
            <a:endParaRPr lang="es-MX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484632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48463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Trabajo remoto y multiusuario</a:t>
            </a:r>
            <a:endParaRPr lang="es-MX" sz="1000" noProof="0" dirty="0"/>
          </a:p>
        </p:txBody>
      </p:sp>
      <p:sp>
        <p:nvSpPr>
          <p:cNvPr id="25" name="Text 23"/>
          <p:cNvSpPr/>
          <p:nvPr/>
        </p:nvSpPr>
        <p:spPr>
          <a:xfrm>
            <a:off x="484632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Respaldos automáticos</a:t>
            </a:r>
            <a:endParaRPr lang="es-MX" sz="1000" noProof="0" dirty="0"/>
          </a:p>
        </p:txBody>
      </p:sp>
      <p:sp>
        <p:nvSpPr>
          <p:cNvPr id="26" name="Text 24"/>
          <p:cNvSpPr/>
          <p:nvPr/>
        </p:nvSpPr>
        <p:spPr>
          <a:xfrm>
            <a:off x="4846320" y="34655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Mayor seguridad</a:t>
            </a:r>
            <a:endParaRPr lang="es-MX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6675120" y="267004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b="1" kern="0" spc="300" noProof="0" dirty="0">
                <a:solidFill>
                  <a:srgbClr val="8E8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considerar</a:t>
            </a:r>
            <a:endParaRPr lang="es-MX" sz="900" noProof="0" dirty="0"/>
          </a:p>
        </p:txBody>
      </p:sp>
      <p:sp>
        <p:nvSpPr>
          <p:cNvPr id="28" name="Text 26"/>
          <p:cNvSpPr/>
          <p:nvPr/>
        </p:nvSpPr>
        <p:spPr>
          <a:xfrm>
            <a:off x="6675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Requiere internet</a:t>
            </a:r>
            <a:endParaRPr lang="es-MX" sz="1000" noProof="0" dirty="0"/>
          </a:p>
        </p:txBody>
      </p:sp>
      <p:sp>
        <p:nvSpPr>
          <p:cNvPr id="29" name="Text 27"/>
          <p:cNvSpPr/>
          <p:nvPr/>
        </p:nvSpPr>
        <p:spPr>
          <a:xfrm>
            <a:off x="6675120" y="31729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Costo de infraestructura</a:t>
            </a:r>
            <a:endParaRPr lang="es-MX" sz="1000" noProof="0" dirty="0"/>
          </a:p>
        </p:txBody>
      </p:sp>
      <p:sp>
        <p:nvSpPr>
          <p:cNvPr id="30" name="Shape 28"/>
          <p:cNvSpPr/>
          <p:nvPr/>
        </p:nvSpPr>
        <p:spPr>
          <a:xfrm>
            <a:off x="4663440" y="4251960"/>
            <a:ext cx="4023360" cy="502920"/>
          </a:xfrm>
          <a:prstGeom prst="rect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1" name="Text 29"/>
          <p:cNvSpPr/>
          <p:nvPr/>
        </p:nvSpPr>
        <p:spPr>
          <a:xfrm>
            <a:off x="4846320" y="42519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$4,800 MXN</a:t>
            </a:r>
            <a:endParaRPr lang="es-MX" sz="1600" noProof="0" dirty="0"/>
          </a:p>
        </p:txBody>
      </p:sp>
      <p:sp>
        <p:nvSpPr>
          <p:cNvPr id="32" name="Text 30"/>
          <p:cNvSpPr/>
          <p:nvPr/>
        </p:nvSpPr>
        <p:spPr>
          <a:xfrm>
            <a:off x="6492240" y="4251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MX" sz="10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año (VPS + dominio)</a:t>
            </a:r>
            <a:endParaRPr lang="es-MX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34" name="Text 32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s-MX" sz="900" noProof="0" dirty="0"/>
          </a:p>
        </p:txBody>
      </p:sp>
      <p:sp>
        <p:nvSpPr>
          <p:cNvPr id="35" name="Shape 33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7BAC90CB-04D1-C963-62C3-23A48A416AD9}"/>
              </a:ext>
            </a:extLst>
          </p:cNvPr>
          <p:cNvSpPr/>
          <p:nvPr/>
        </p:nvSpPr>
        <p:spPr>
          <a:xfrm>
            <a:off x="2468880" y="377015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MX" sz="1000" b="1" noProof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s-MX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capturando cuestionario de cada cliente</a:t>
            </a:r>
            <a:endParaRPr lang="es-MX" sz="1000" b="1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costos · primer año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1828800" y="1600200"/>
            <a:ext cx="6858000" cy="457200"/>
          </a:xfrm>
          <a:prstGeom prst="rect">
            <a:avLst/>
          </a:prstGeom>
          <a:solidFill>
            <a:srgbClr val="4B2E83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Text 3"/>
          <p:cNvSpPr/>
          <p:nvPr/>
        </p:nvSpPr>
        <p:spPr>
          <a:xfrm>
            <a:off x="182880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marL="0" indent="0" algn="l">
              <a:buNone/>
            </a:pPr>
            <a:r>
              <a:rPr lang="es-MX" sz="12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</a:t>
            </a:r>
            <a:endParaRPr lang="es-MX" sz="1200" noProof="0" dirty="0"/>
          </a:p>
        </p:txBody>
      </p:sp>
      <p:sp>
        <p:nvSpPr>
          <p:cNvPr id="6" name="Text 4"/>
          <p:cNvSpPr/>
          <p:nvPr/>
        </p:nvSpPr>
        <p:spPr>
          <a:xfrm>
            <a:off x="512064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Local</a:t>
            </a:r>
            <a:endParaRPr lang="es-MX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690372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Nube</a:t>
            </a:r>
            <a:endParaRPr lang="es-MX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1828800" y="2057400"/>
            <a:ext cx="6858000" cy="548640"/>
          </a:xfrm>
          <a:prstGeom prst="rect">
            <a:avLst/>
          </a:prstGeom>
          <a:solidFill>
            <a:srgbClr val="1E1133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196596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sistema</a:t>
            </a:r>
            <a:endParaRPr lang="es-MX" sz="1200" noProof="0" dirty="0"/>
          </a:p>
        </p:txBody>
      </p:sp>
      <p:sp>
        <p:nvSpPr>
          <p:cNvPr id="10" name="Text 8"/>
          <p:cNvSpPr/>
          <p:nvPr/>
        </p:nvSpPr>
        <p:spPr>
          <a:xfrm>
            <a:off x="512064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 dirty="0">
                <a:solidFill>
                  <a:srgbClr val="D9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s-MX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6903720" y="20574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 dirty="0">
                <a:solidFill>
                  <a:srgbClr val="D9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</a:t>
            </a:r>
            <a:endParaRPr lang="es-MX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1828800" y="2606040"/>
            <a:ext cx="6858000" cy="548640"/>
          </a:xfrm>
          <a:prstGeom prst="rect">
            <a:avLst/>
          </a:prstGeom>
          <a:solidFill>
            <a:srgbClr val="1E1133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3" name="Text 11"/>
          <p:cNvSpPr/>
          <p:nvPr/>
        </p:nvSpPr>
        <p:spPr>
          <a:xfrm>
            <a:off x="19659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2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+ dominio (anual)</a:t>
            </a:r>
            <a:endParaRPr lang="es-MX" sz="1200" noProof="0" dirty="0"/>
          </a:p>
        </p:txBody>
      </p:sp>
      <p:sp>
        <p:nvSpPr>
          <p:cNvPr id="14" name="Text 12"/>
          <p:cNvSpPr/>
          <p:nvPr/>
        </p:nvSpPr>
        <p:spPr>
          <a:xfrm>
            <a:off x="512064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 dirty="0">
                <a:solidFill>
                  <a:srgbClr val="D9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s-MX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6903720" y="26060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200" noProof="0" dirty="0">
                <a:solidFill>
                  <a:srgbClr val="D9D6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$4,800</a:t>
            </a:r>
            <a:endParaRPr lang="es-MX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1828800" y="3154680"/>
            <a:ext cx="6858000" cy="54864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Shape 15"/>
          <p:cNvSpPr/>
          <p:nvPr/>
        </p:nvSpPr>
        <p:spPr>
          <a:xfrm>
            <a:off x="1828800" y="3154680"/>
            <a:ext cx="685800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8" name="Text 16"/>
          <p:cNvSpPr/>
          <p:nvPr/>
        </p:nvSpPr>
        <p:spPr>
          <a:xfrm>
            <a:off x="1965960" y="31546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3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primer año</a:t>
            </a:r>
            <a:endParaRPr lang="es-MX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512064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MXN</a:t>
            </a:r>
            <a:endParaRPr lang="es-MX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6903720" y="31546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$14,800 MXN</a:t>
            </a:r>
            <a:endParaRPr lang="es-MX" sz="1400" noProof="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equivale a ≈ $400 MXN al mes.</a:t>
            </a:r>
            <a:endParaRPr lang="es-MX" sz="11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s-MX" sz="900" noProof="0" dirty="0"/>
          </a:p>
        </p:txBody>
      </p:sp>
      <p:sp>
        <p:nvSpPr>
          <p:cNvPr id="25" name="Shape 23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Recomendación</a:t>
            </a:r>
            <a:endParaRPr lang="es-MX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274320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02336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0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s-MX" sz="5000" noProof="0" dirty="0"/>
          </a:p>
        </p:txBody>
      </p:sp>
      <p:sp>
        <p:nvSpPr>
          <p:cNvPr id="7" name="Text 5"/>
          <p:cNvSpPr/>
          <p:nvPr/>
        </p:nvSpPr>
        <p:spPr>
          <a:xfrm>
            <a:off x="201168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1 · Hoy</a:t>
            </a:r>
            <a:endParaRPr lang="es-MX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201168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local</a:t>
            </a:r>
            <a:endParaRPr lang="es-MX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la versión local para comenzar a obtener beneficios desde el primer mes.</a:t>
            </a:r>
            <a:endParaRPr lang="es-MX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600200"/>
            <a:ext cx="4023360" cy="2743200"/>
          </a:xfrm>
          <a:prstGeom prst="rect">
            <a:avLst/>
          </a:prstGeom>
          <a:solidFill>
            <a:srgbClr val="2A1B4A"/>
          </a:solidFill>
          <a:ln w="6350">
            <a:solidFill>
              <a:srgbClr val="6B4A9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4572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50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s-MX" sz="5000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8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Fase 2 · Mañana</a:t>
            </a:r>
            <a:endParaRPr lang="es-MX" sz="1800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0" y="2240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200" i="1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Migración a la nube</a:t>
            </a:r>
            <a:endParaRPr lang="es-MX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4937760" y="28346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3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cuando el negocio requiera acceso remoto, mayor seguridad o trabajo en equipo.</a:t>
            </a:r>
            <a:endParaRPr lang="es-MX" sz="13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solidFill>
            <a:srgbClr val="4B2E83"/>
          </a:solidFill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00" b="1" i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Comienza con una inversión accesible y escala cuando tu negocio lo necesite.</a:t>
            </a:r>
            <a:endParaRPr lang="es-MX" sz="1100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s-MX" sz="900" noProof="0" dirty="0"/>
          </a:p>
        </p:txBody>
      </p:sp>
      <p:sp>
        <p:nvSpPr>
          <p:cNvPr id="20" name="Shape 18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1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97280" cy="2743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27432" cy="5486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4" name="Shape 2"/>
          <p:cNvSpPr/>
          <p:nvPr/>
        </p:nvSpPr>
        <p:spPr>
          <a:xfrm>
            <a:off x="7589520" y="365760"/>
            <a:ext cx="1097280" cy="2743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5" name="Shape 3"/>
          <p:cNvSpPr/>
          <p:nvPr/>
        </p:nvSpPr>
        <p:spPr>
          <a:xfrm>
            <a:off x="8659368" y="365760"/>
            <a:ext cx="27432" cy="548640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3200" b="1" noProof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tiempo administrando.</a:t>
            </a:r>
            <a:endParaRPr lang="es-MX" sz="32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3200" b="1" i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Más tiempo creciendo.</a:t>
            </a:r>
            <a:endParaRPr lang="es-MX" sz="3200" noProof="0" dirty="0"/>
          </a:p>
        </p:txBody>
      </p:sp>
      <p:sp>
        <p:nvSpPr>
          <p:cNvPr id="8" name="Shape 6"/>
          <p:cNvSpPr/>
          <p:nvPr/>
        </p:nvSpPr>
        <p:spPr>
          <a:xfrm>
            <a:off x="4114800" y="2286000"/>
            <a:ext cx="914400" cy="27432"/>
          </a:xfrm>
          <a:prstGeom prst="rect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100" b="1" kern="0" spc="800" noProof="0" dirty="0">
                <a:solidFill>
                  <a:srgbClr val="E5C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</a:t>
            </a:r>
            <a:endParaRPr lang="es-MX" sz="1100" noProof="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4000" b="1" noProof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$10,000 MXN</a:t>
            </a:r>
            <a:endParaRPr lang="es-MX" sz="4000" noProof="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9144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336 horas recuperadas al mes</a:t>
            </a:r>
            <a:endParaRPr lang="es-MX" sz="1100" noProof="0" dirty="0"/>
          </a:p>
        </p:txBody>
      </p:sp>
      <p:sp>
        <p:nvSpPr>
          <p:cNvPr id="13" name="Text 11"/>
          <p:cNvSpPr/>
          <p:nvPr/>
        </p:nvSpPr>
        <p:spPr>
          <a:xfrm>
            <a:off x="33832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errores</a:t>
            </a:r>
            <a:endParaRPr lang="es-MX" sz="1100" noProof="0" dirty="0"/>
          </a:p>
        </p:txBody>
      </p:sp>
      <p:sp>
        <p:nvSpPr>
          <p:cNvPr id="15" name="Text 13"/>
          <p:cNvSpPr/>
          <p:nvPr/>
        </p:nvSpPr>
        <p:spPr>
          <a:xfrm>
            <a:off x="612648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640080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organización</a:t>
            </a:r>
            <a:endParaRPr lang="es-MX" sz="11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capacidad operativa</a:t>
            </a:r>
            <a:endParaRPr lang="es-MX" sz="1100" noProof="0" dirty="0"/>
          </a:p>
        </p:txBody>
      </p:sp>
      <p:sp>
        <p:nvSpPr>
          <p:cNvPr id="19" name="Text 17"/>
          <p:cNvSpPr/>
          <p:nvPr/>
        </p:nvSpPr>
        <p:spPr>
          <a:xfrm>
            <a:off x="338328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400" b="1" noProof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s-MX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365760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1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rápido de inversión</a:t>
            </a:r>
            <a:endParaRPr lang="es-MX" sz="1100" noProof="0" dirty="0"/>
          </a:p>
        </p:txBody>
      </p:sp>
      <p:sp>
        <p:nvSpPr>
          <p:cNvPr id="21" name="Text 19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MX" sz="1300" i="1" noProof="0" dirty="0">
                <a:solidFill>
                  <a:srgbClr val="E5C6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"El objetivo no es trabajar más rápido. Es dejar de hacer trabajo repetitivo."</a:t>
            </a:r>
            <a:endParaRPr lang="es-MX" sz="1300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4864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900" i="1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Inteligente · Gestión de Eventos</a:t>
            </a:r>
            <a:endParaRPr lang="es-MX" sz="900" noProof="0" dirty="0"/>
          </a:p>
        </p:txBody>
      </p:sp>
      <p:sp>
        <p:nvSpPr>
          <p:cNvPr id="23" name="Text 21"/>
          <p:cNvSpPr/>
          <p:nvPr/>
        </p:nvSpPr>
        <p:spPr>
          <a:xfrm>
            <a:off x="7863840" y="48646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s-MX" sz="900" noProof="0" dirty="0">
                <a:solidFill>
                  <a:srgbClr val="D9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s-MX" sz="900" noProof="0" dirty="0"/>
          </a:p>
        </p:txBody>
      </p:sp>
      <p:sp>
        <p:nvSpPr>
          <p:cNvPr id="24" name="Shape 22"/>
          <p:cNvSpPr/>
          <p:nvPr/>
        </p:nvSpPr>
        <p:spPr>
          <a:xfrm>
            <a:off x="7735824" y="4946904"/>
            <a:ext cx="73152" cy="73152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es-MX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778</Words>
  <Application>Microsoft Office PowerPoint</Application>
  <PresentationFormat>Presentación en pantalla (16:9)</PresentationFormat>
  <Paragraphs>224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Pamela Martínez Salas</dc:creator>
  <cp:lastModifiedBy>Pamela Martínez Salas</cp:lastModifiedBy>
  <cp:revision>4</cp:revision>
  <dcterms:created xsi:type="dcterms:W3CDTF">2026-06-13T00:04:14Z</dcterms:created>
  <dcterms:modified xsi:type="dcterms:W3CDTF">2026-06-13T02:35:22Z</dcterms:modified>
</cp:coreProperties>
</file>