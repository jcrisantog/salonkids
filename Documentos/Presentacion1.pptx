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6EE87-EBD5-4F12-A48A-63ACA297AC8F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76729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64257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24481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05802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87409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9139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44532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81863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06441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13959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21773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4794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221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jp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0" cy="27432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27432" cy="914400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4" name="Shape 2"/>
          <p:cNvSpPr/>
          <p:nvPr/>
        </p:nvSpPr>
        <p:spPr>
          <a:xfrm>
            <a:off x="7315200" y="4572000"/>
            <a:ext cx="1371600" cy="27432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5" name="Shape 3"/>
          <p:cNvSpPr/>
          <p:nvPr/>
        </p:nvSpPr>
        <p:spPr>
          <a:xfrm>
            <a:off x="8659368" y="3657600"/>
            <a:ext cx="27432" cy="914400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b="1" kern="0" spc="800" noProof="0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 ·  2026</a:t>
            </a:r>
            <a:endParaRPr lang="es-MX" sz="1200" noProof="0" dirty="0">
              <a:solidFill>
                <a:srgbClr val="7030A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4000" b="1" noProof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Automatización Inteligente</a:t>
            </a:r>
            <a:endParaRPr lang="es-MX" sz="4000" noProof="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3200" i="1" noProof="0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la Gestión de Eventos</a:t>
            </a:r>
            <a:endParaRPr lang="es-MX" sz="3200" noProof="0" dirty="0">
              <a:solidFill>
                <a:srgbClr val="7030A0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" y="3337560"/>
            <a:ext cx="1097280" cy="36576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600" b="1" i="1" noProof="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tiempo en administración.</a:t>
            </a:r>
            <a:endParaRPr lang="es-MX" sz="1600" b="1" noProof="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r">
              <a:buNone/>
            </a:pPr>
            <a:r>
              <a:rPr lang="es-MX" sz="1600" b="1" i="1" noProof="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tiempo para tus clientes y tu negocio.</a:t>
            </a:r>
            <a:endParaRPr lang="es-MX" sz="1600" b="1" noProof="0" dirty="0">
              <a:solidFill>
                <a:schemeClr val="accent5"/>
              </a:solidFill>
            </a:endParaRPr>
          </a:p>
        </p:txBody>
      </p:sp>
      <p:pic>
        <p:nvPicPr>
          <p:cNvPr id="16" name="Gráfico 15" descr="Engranaje único contorno">
            <a:extLst>
              <a:ext uri="{FF2B5EF4-FFF2-40B4-BE49-F238E27FC236}">
                <a16:creationId xmlns:a16="http://schemas.microsoft.com/office/drawing/2014/main" id="{4E717867-9293-6D0B-FDCF-75682A28BD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549470">
            <a:off x="7715380" y="3166586"/>
            <a:ext cx="914400" cy="914400"/>
          </a:xfrm>
          <a:prstGeom prst="rect">
            <a:avLst/>
          </a:prstGeom>
        </p:spPr>
      </p:pic>
      <p:pic>
        <p:nvPicPr>
          <p:cNvPr id="18" name="Gráfico 17" descr="Engranaje único contorno">
            <a:extLst>
              <a:ext uri="{FF2B5EF4-FFF2-40B4-BE49-F238E27FC236}">
                <a16:creationId xmlns:a16="http://schemas.microsoft.com/office/drawing/2014/main" id="{80A1605D-E00D-36BD-1FFB-594B8CB659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549470">
            <a:off x="6882756" y="2854872"/>
            <a:ext cx="914400" cy="914400"/>
          </a:xfrm>
          <a:prstGeom prst="rect">
            <a:avLst/>
          </a:prstGeom>
        </p:spPr>
      </p:pic>
      <p:pic>
        <p:nvPicPr>
          <p:cNvPr id="22" name="Gráfico 21" descr="Engranaje único contorno">
            <a:extLst>
              <a:ext uri="{FF2B5EF4-FFF2-40B4-BE49-F238E27FC236}">
                <a16:creationId xmlns:a16="http://schemas.microsoft.com/office/drawing/2014/main" id="{5BB9E02A-A0A6-B78D-681D-707E1A8930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549470">
            <a:off x="7801988" y="2306232"/>
            <a:ext cx="914400" cy="914400"/>
          </a:xfrm>
          <a:prstGeom prst="rect">
            <a:avLst/>
          </a:prstGeom>
        </p:spPr>
      </p:pic>
      <p:pic>
        <p:nvPicPr>
          <p:cNvPr id="24" name="Gráfico 23" descr="Globos contorno">
            <a:extLst>
              <a:ext uri="{FF2B5EF4-FFF2-40B4-BE49-F238E27FC236}">
                <a16:creationId xmlns:a16="http://schemas.microsoft.com/office/drawing/2014/main" id="{0B727658-9DF8-D9FF-B2C5-F5803B2652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595983">
            <a:off x="7498080" y="579826"/>
            <a:ext cx="914400" cy="914400"/>
          </a:xfrm>
          <a:prstGeom prst="rect">
            <a:avLst/>
          </a:prstGeom>
        </p:spPr>
      </p:pic>
      <p:pic>
        <p:nvPicPr>
          <p:cNvPr id="28" name="Gráfico 27" descr="Contorno de cara divertida contorno">
            <a:extLst>
              <a:ext uri="{FF2B5EF4-FFF2-40B4-BE49-F238E27FC236}">
                <a16:creationId xmlns:a16="http://schemas.microsoft.com/office/drawing/2014/main" id="{ACE2A442-426B-C981-2FF5-F95317A3E4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75391" y="4229100"/>
            <a:ext cx="540000" cy="540000"/>
          </a:xfrm>
          <a:prstGeom prst="rect">
            <a:avLst/>
          </a:prstGeom>
        </p:spPr>
      </p:pic>
      <p:pic>
        <p:nvPicPr>
          <p:cNvPr id="30" name="Gráfico 29" descr="Cronómetro 25% con relleno sólido">
            <a:extLst>
              <a:ext uri="{FF2B5EF4-FFF2-40B4-BE49-F238E27FC236}">
                <a16:creationId xmlns:a16="http://schemas.microsoft.com/office/drawing/2014/main" id="{B747BD0E-A452-89C8-D56A-0D30062B05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64888" y="4026504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800" b="1" noProof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caos detrás de cada fiesta</a:t>
            </a:r>
            <a:endParaRPr lang="es-MX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i="1" noProof="0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Actualmente cada evento requiere:</a:t>
            </a:r>
            <a:endParaRPr lang="es-MX" sz="1400" noProof="0" dirty="0">
              <a:solidFill>
                <a:srgbClr val="7030A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572768" cy="1645920"/>
          </a:xfrm>
          <a:prstGeom prst="rect">
            <a:avLst/>
          </a:prstGeom>
          <a:solidFill>
            <a:srgbClr val="F5F2FA"/>
          </a:solidFill>
          <a:ln w="635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1572768" cy="45720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/>
          </a:p>
        </p:txBody>
      </p:sp>
      <p:sp>
        <p:nvSpPr>
          <p:cNvPr id="7" name="Text 5"/>
          <p:cNvSpPr/>
          <p:nvPr/>
        </p:nvSpPr>
        <p:spPr>
          <a:xfrm>
            <a:off x="457200" y="215739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400" b="1" noProof="0">
                <a:solidFill>
                  <a:schemeClr val="accent1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Documentos</a:t>
            </a:r>
            <a:endParaRPr lang="es-MX" sz="1400" noProof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2687814"/>
            <a:ext cx="1389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100" b="1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Llenado manual de</a:t>
            </a:r>
            <a:endParaRPr lang="es-MX" sz="1100" b="1" noProof="0"/>
          </a:p>
          <a:p>
            <a:pPr marL="0" indent="0" algn="ctr">
              <a:buNone/>
            </a:pPr>
            <a:r>
              <a:rPr lang="es-MX" sz="1100" b="1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documentos</a:t>
            </a:r>
            <a:endParaRPr lang="es-MX" sz="1100" b="1" noProof="0"/>
          </a:p>
        </p:txBody>
      </p:sp>
      <p:sp>
        <p:nvSpPr>
          <p:cNvPr id="9" name="Shape 7"/>
          <p:cNvSpPr/>
          <p:nvPr/>
        </p:nvSpPr>
        <p:spPr>
          <a:xfrm>
            <a:off x="2139696" y="2057400"/>
            <a:ext cx="1572768" cy="1645920"/>
          </a:xfrm>
          <a:prstGeom prst="rect">
            <a:avLst/>
          </a:prstGeom>
          <a:solidFill>
            <a:srgbClr val="F5F2FA"/>
          </a:solidFill>
          <a:ln w="635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0" name="Shape 8"/>
          <p:cNvSpPr/>
          <p:nvPr/>
        </p:nvSpPr>
        <p:spPr>
          <a:xfrm>
            <a:off x="2139696" y="2057400"/>
            <a:ext cx="1572768" cy="45720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/>
          </a:p>
        </p:txBody>
      </p:sp>
      <p:sp>
        <p:nvSpPr>
          <p:cNvPr id="11" name="Text 9"/>
          <p:cNvSpPr/>
          <p:nvPr/>
        </p:nvSpPr>
        <p:spPr>
          <a:xfrm>
            <a:off x="2139696" y="215739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400" b="1" noProof="0">
                <a:solidFill>
                  <a:schemeClr val="accent1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Captura</a:t>
            </a:r>
            <a:endParaRPr lang="es-MX" sz="1400" noProof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2231136" y="2687814"/>
            <a:ext cx="1389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100" b="1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repetida</a:t>
            </a:r>
            <a:endParaRPr lang="es-MX" sz="1100" b="1" noProof="0"/>
          </a:p>
          <a:p>
            <a:pPr marL="0" indent="0" algn="ctr">
              <a:buNone/>
            </a:pPr>
            <a:r>
              <a:rPr lang="es-MX" sz="1100" b="1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y otra vez</a:t>
            </a:r>
            <a:endParaRPr lang="es-MX" sz="1100" b="1" noProof="0"/>
          </a:p>
        </p:txBody>
      </p:sp>
      <p:sp>
        <p:nvSpPr>
          <p:cNvPr id="13" name="Shape 11"/>
          <p:cNvSpPr/>
          <p:nvPr/>
        </p:nvSpPr>
        <p:spPr>
          <a:xfrm>
            <a:off x="3822192" y="2057400"/>
            <a:ext cx="1572768" cy="1645920"/>
          </a:xfrm>
          <a:prstGeom prst="rect">
            <a:avLst/>
          </a:prstGeom>
          <a:solidFill>
            <a:srgbClr val="F5F2FA"/>
          </a:solidFill>
          <a:ln w="635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4" name="Shape 12"/>
          <p:cNvSpPr/>
          <p:nvPr/>
        </p:nvSpPr>
        <p:spPr>
          <a:xfrm>
            <a:off x="3822192" y="2057400"/>
            <a:ext cx="1572768" cy="45720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/>
          </a:p>
        </p:txBody>
      </p:sp>
      <p:sp>
        <p:nvSpPr>
          <p:cNvPr id="15" name="Text 13"/>
          <p:cNvSpPr/>
          <p:nvPr/>
        </p:nvSpPr>
        <p:spPr>
          <a:xfrm>
            <a:off x="3822192" y="215739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400" b="1" noProof="0">
                <a:solidFill>
                  <a:schemeClr val="accent1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Cronogramas</a:t>
            </a:r>
            <a:endParaRPr lang="es-MX" sz="1400" noProof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913632" y="2687814"/>
            <a:ext cx="1389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100" b="1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manual</a:t>
            </a:r>
            <a:endParaRPr lang="es-MX" sz="1100" b="1" noProof="0"/>
          </a:p>
          <a:p>
            <a:pPr marL="0" indent="0" algn="ctr">
              <a:buNone/>
            </a:pPr>
            <a:r>
              <a:rPr lang="es-MX" sz="1100" b="1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agenda</a:t>
            </a:r>
            <a:endParaRPr lang="es-MX" sz="1100" b="1" noProof="0"/>
          </a:p>
        </p:txBody>
      </p:sp>
      <p:sp>
        <p:nvSpPr>
          <p:cNvPr id="17" name="Shape 15"/>
          <p:cNvSpPr/>
          <p:nvPr/>
        </p:nvSpPr>
        <p:spPr>
          <a:xfrm>
            <a:off x="5504688" y="2057400"/>
            <a:ext cx="1572768" cy="1645920"/>
          </a:xfrm>
          <a:prstGeom prst="rect">
            <a:avLst/>
          </a:prstGeom>
          <a:solidFill>
            <a:srgbClr val="F5F2FA"/>
          </a:solidFill>
          <a:ln w="635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8" name="Shape 16"/>
          <p:cNvSpPr/>
          <p:nvPr/>
        </p:nvSpPr>
        <p:spPr>
          <a:xfrm>
            <a:off x="5504688" y="2057400"/>
            <a:ext cx="1572768" cy="45720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/>
          </a:p>
        </p:txBody>
      </p:sp>
      <p:sp>
        <p:nvSpPr>
          <p:cNvPr id="19" name="Text 17"/>
          <p:cNvSpPr/>
          <p:nvPr/>
        </p:nvSpPr>
        <p:spPr>
          <a:xfrm>
            <a:off x="5504688" y="215739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400" b="1" noProof="0">
                <a:solidFill>
                  <a:schemeClr val="accent1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Actividades</a:t>
            </a:r>
            <a:endParaRPr lang="es-MX" sz="1400" noProof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5596128" y="2687814"/>
            <a:ext cx="1389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100" b="1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por</a:t>
            </a:r>
            <a:endParaRPr lang="es-MX" sz="1100" b="1" noProof="0"/>
          </a:p>
          <a:p>
            <a:pPr marL="0" indent="0" algn="ctr">
              <a:buNone/>
            </a:pPr>
            <a:r>
              <a:rPr lang="es-MX" sz="1100" b="1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separado de tareas</a:t>
            </a:r>
            <a:endParaRPr lang="es-MX" sz="1100" b="1" noProof="0"/>
          </a:p>
        </p:txBody>
      </p:sp>
      <p:sp>
        <p:nvSpPr>
          <p:cNvPr id="21" name="Shape 19"/>
          <p:cNvSpPr/>
          <p:nvPr/>
        </p:nvSpPr>
        <p:spPr>
          <a:xfrm>
            <a:off x="7187184" y="2057400"/>
            <a:ext cx="1572768" cy="1645920"/>
          </a:xfrm>
          <a:prstGeom prst="rect">
            <a:avLst/>
          </a:prstGeom>
          <a:solidFill>
            <a:srgbClr val="F5F2FA"/>
          </a:solidFill>
          <a:ln w="635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2" name="Shape 20"/>
          <p:cNvSpPr/>
          <p:nvPr/>
        </p:nvSpPr>
        <p:spPr>
          <a:xfrm>
            <a:off x="7187184" y="2057400"/>
            <a:ext cx="1572768" cy="45720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/>
          </a:p>
        </p:txBody>
      </p:sp>
      <p:sp>
        <p:nvSpPr>
          <p:cNvPr id="23" name="Text 21"/>
          <p:cNvSpPr/>
          <p:nvPr/>
        </p:nvSpPr>
        <p:spPr>
          <a:xfrm>
            <a:off x="7187184" y="215739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400" b="1" noProof="0">
                <a:solidFill>
                  <a:schemeClr val="accent1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Pendientes</a:t>
            </a:r>
            <a:endParaRPr lang="es-MX" sz="1400" noProof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7278624" y="2687814"/>
            <a:ext cx="1389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100" b="1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manual</a:t>
            </a:r>
            <a:endParaRPr lang="es-MX" sz="1100" b="1" noProof="0"/>
          </a:p>
          <a:p>
            <a:pPr marL="0" indent="0" algn="ctr">
              <a:buNone/>
            </a:pPr>
            <a:r>
              <a:rPr lang="es-MX" sz="1100" b="1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compromisos</a:t>
            </a:r>
            <a:endParaRPr lang="es-MX" sz="1100" b="1" noProof="0"/>
          </a:p>
        </p:txBody>
      </p:sp>
      <p:sp>
        <p:nvSpPr>
          <p:cNvPr id="25" name="Shape 23"/>
          <p:cNvSpPr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s-MX" noProof="0"/>
          </a:p>
        </p:txBody>
      </p:sp>
      <p:sp>
        <p:nvSpPr>
          <p:cNvPr id="26" name="Text 24"/>
          <p:cNvSpPr/>
          <p:nvPr/>
        </p:nvSpPr>
        <p:spPr>
          <a:xfrm>
            <a:off x="548640" y="390448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noProof="0" dirty="0">
                <a:solidFill>
                  <a:schemeClr val="tx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invertido por evento:  </a:t>
            </a:r>
            <a:r>
              <a:rPr lang="es-MX" sz="2400" b="1" noProof="0" dirty="0">
                <a:solidFill>
                  <a:schemeClr val="tx1">
                    <a:lumMod val="8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8 horas</a:t>
            </a:r>
            <a:endParaRPr lang="es-MX" noProof="0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i="1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Inteligente · Gestión de Eventos</a:t>
            </a:r>
            <a:endParaRPr lang="es-MX" sz="900" noProof="0" dirty="0"/>
          </a:p>
        </p:txBody>
      </p:sp>
      <p:sp>
        <p:nvSpPr>
          <p:cNvPr id="28" name="Text 26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s-MX" sz="900" noProof="0" dirty="0"/>
          </a:p>
        </p:txBody>
      </p:sp>
      <p:sp>
        <p:nvSpPr>
          <p:cNvPr id="29" name="Shape 27"/>
          <p:cNvSpPr/>
          <p:nvPr/>
        </p:nvSpPr>
        <p:spPr>
          <a:xfrm>
            <a:off x="7735824" y="4946904"/>
            <a:ext cx="73152" cy="73152"/>
          </a:xfrm>
          <a:prstGeom prst="ellipse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pic>
        <p:nvPicPr>
          <p:cNvPr id="500" name="ChallengeImage"/>
          <p:cNvPicPr>
            <a:picLocks noChangeAspect="1"/>
          </p:cNvPicPr>
          <p:nvPr/>
        </p:nvPicPr>
        <p:blipFill>
          <a:blip r:embed="rId3"/>
          <a:srcRect l="800" r="800"/>
          <a:stretch>
            <a:fillRect/>
          </a:stretch>
        </p:blipFill>
        <p:spPr>
          <a:xfrm>
            <a:off x="6300000" y="300000"/>
            <a:ext cx="2590000" cy="1700000"/>
          </a:xfrm>
          <a:prstGeom prst="rect">
            <a:avLst/>
          </a:prstGeom>
        </p:spPr>
      </p:pic>
      <p:pic>
        <p:nvPicPr>
          <p:cNvPr id="31" name="Gráfico 30" descr="Narración contorno">
            <a:extLst>
              <a:ext uri="{FF2B5EF4-FFF2-40B4-BE49-F238E27FC236}">
                <a16:creationId xmlns:a16="http://schemas.microsoft.com/office/drawing/2014/main" id="{F2412EEF-62CE-D8DA-D87D-78BE5605AE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3584" y="2418930"/>
            <a:ext cx="504000" cy="504000"/>
          </a:xfrm>
          <a:prstGeom prst="rect">
            <a:avLst/>
          </a:prstGeom>
        </p:spPr>
      </p:pic>
      <p:pic>
        <p:nvPicPr>
          <p:cNvPr id="33" name="Gráfico 32" descr="Máquina de escribir contorno">
            <a:extLst>
              <a:ext uri="{FF2B5EF4-FFF2-40B4-BE49-F238E27FC236}">
                <a16:creationId xmlns:a16="http://schemas.microsoft.com/office/drawing/2014/main" id="{520B4612-0C93-5F8C-6229-008F458E3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74080" y="2448666"/>
            <a:ext cx="504000" cy="504000"/>
          </a:xfrm>
          <a:prstGeom prst="rect">
            <a:avLst/>
          </a:prstGeom>
        </p:spPr>
      </p:pic>
      <p:pic>
        <p:nvPicPr>
          <p:cNvPr id="35" name="Gráfico 34" descr="Calendario mensual contorno">
            <a:extLst>
              <a:ext uri="{FF2B5EF4-FFF2-40B4-BE49-F238E27FC236}">
                <a16:creationId xmlns:a16="http://schemas.microsoft.com/office/drawing/2014/main" id="{2EBF2526-0B36-73EE-91BA-36AB5BCBD5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56576" y="2487881"/>
            <a:ext cx="504000" cy="504000"/>
          </a:xfrm>
          <a:prstGeom prst="rect">
            <a:avLst/>
          </a:prstGeom>
        </p:spPr>
      </p:pic>
      <p:pic>
        <p:nvPicPr>
          <p:cNvPr id="39" name="Gráfico 38" descr="Portapapeles contorno">
            <a:extLst>
              <a:ext uri="{FF2B5EF4-FFF2-40B4-BE49-F238E27FC236}">
                <a16:creationId xmlns:a16="http://schemas.microsoft.com/office/drawing/2014/main" id="{329C4BFC-854D-3B34-A28F-D33FF180E7F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6039072" y="2478980"/>
            <a:ext cx="504000" cy="504000"/>
          </a:xfrm>
          <a:prstGeom prst="rect">
            <a:avLst/>
          </a:prstGeom>
        </p:spPr>
      </p:pic>
      <p:pic>
        <p:nvPicPr>
          <p:cNvPr id="41" name="Gráfico 40" descr="Portapapeles parcialmente comprobado contorno">
            <a:extLst>
              <a:ext uri="{FF2B5EF4-FFF2-40B4-BE49-F238E27FC236}">
                <a16:creationId xmlns:a16="http://schemas.microsoft.com/office/drawing/2014/main" id="{D0DF8BFE-EF23-40EA-991A-81C2FC95D3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21568" y="2487881"/>
            <a:ext cx="504000" cy="50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800" b="1" noProof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¿Cuánto tiempo se invierte hoy?</a:t>
            </a:r>
            <a:endParaRPr lang="es-MX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b="1" i="1" noProof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s-MX" sz="1400" b="1" noProof="0" dirty="0">
              <a:solidFill>
                <a:schemeClr val="accent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3931920" cy="1097280"/>
          </a:xfrm>
          <a:prstGeom prst="rect">
            <a:avLst/>
          </a:prstGeom>
          <a:solidFill>
            <a:srgbClr val="F5F2FA"/>
          </a:solidFill>
          <a:ln w="635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54864" cy="1097280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5400" b="1" noProof="0">
                <a:solidFill>
                  <a:srgbClr val="00B8D4"/>
                </a:solidFill>
                <a:latin typeface="Georgia" pitchFamily="34" charset="0"/>
              </a:rPr>
              <a:t>8</a:t>
            </a:r>
            <a:endParaRPr lang="es-MX" sz="5400" noProof="0" dirty="0"/>
          </a:p>
        </p:txBody>
      </p:sp>
      <p:sp>
        <p:nvSpPr>
          <p:cNvPr id="8" name="Text 6"/>
          <p:cNvSpPr/>
          <p:nvPr/>
        </p:nvSpPr>
        <p:spPr>
          <a:xfrm>
            <a:off x="2103120" y="2240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800" b="1" noProof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horas</a:t>
            </a:r>
            <a:endParaRPr lang="es-MX" sz="1800" noProof="0" dirty="0"/>
          </a:p>
        </p:txBody>
      </p:sp>
      <p:sp>
        <p:nvSpPr>
          <p:cNvPr id="9" name="Text 7"/>
          <p:cNvSpPr/>
          <p:nvPr/>
        </p:nvSpPr>
        <p:spPr>
          <a:xfrm>
            <a:off x="2103120" y="2651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evento</a:t>
            </a:r>
            <a:endParaRPr lang="es-MX" sz="1300" noProof="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3931920" cy="1097280"/>
          </a:xfrm>
          <a:prstGeom prst="rect">
            <a:avLst/>
          </a:prstGeom>
          <a:solidFill>
            <a:srgbClr val="F5F2FA"/>
          </a:solidFill>
          <a:ln w="635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54864" cy="1097280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5400" b="1" noProof="0">
                <a:solidFill>
                  <a:srgbClr val="00B8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s-MX" sz="5400" noProof="0" dirty="0"/>
          </a:p>
        </p:txBody>
      </p:sp>
      <p:sp>
        <p:nvSpPr>
          <p:cNvPr id="13" name="Text 11"/>
          <p:cNvSpPr/>
          <p:nvPr/>
        </p:nvSpPr>
        <p:spPr>
          <a:xfrm>
            <a:off x="2103120" y="3474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800" b="1" noProof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eventos</a:t>
            </a:r>
            <a:endParaRPr lang="es-MX" sz="1800" noProof="0" dirty="0"/>
          </a:p>
        </p:txBody>
      </p:sp>
      <p:sp>
        <p:nvSpPr>
          <p:cNvPr id="14" name="Text 12"/>
          <p:cNvSpPr/>
          <p:nvPr/>
        </p:nvSpPr>
        <p:spPr>
          <a:xfrm>
            <a:off x="2103120" y="3886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semana</a:t>
            </a:r>
            <a:endParaRPr lang="es-MX" sz="1300" noProof="0" dirty="0"/>
          </a:p>
        </p:txBody>
      </p:sp>
      <p:sp>
        <p:nvSpPr>
          <p:cNvPr id="15" name="Text 13"/>
          <p:cNvSpPr/>
          <p:nvPr/>
        </p:nvSpPr>
        <p:spPr>
          <a:xfrm>
            <a:off x="4663440" y="16002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b="1" i="1" noProof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Acumulación del tiempo</a:t>
            </a:r>
            <a:endParaRPr lang="es-MX" sz="1400" b="1" noProof="0" dirty="0">
              <a:solidFill>
                <a:schemeClr val="accent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6344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b="1" noProof="0" dirty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</a:t>
            </a:r>
            <a:endParaRPr lang="es-MX" sz="1400" b="1" noProof="0" dirty="0"/>
          </a:p>
        </p:txBody>
      </p:sp>
      <p:sp>
        <p:nvSpPr>
          <p:cNvPr id="17" name="Shape 15"/>
          <p:cNvSpPr/>
          <p:nvPr/>
        </p:nvSpPr>
        <p:spPr>
          <a:xfrm>
            <a:off x="5577840" y="2148840"/>
            <a:ext cx="3017520" cy="274320"/>
          </a:xfrm>
          <a:prstGeom prst="rect">
            <a:avLst/>
          </a:prstGeom>
          <a:solidFill>
            <a:srgbClr val="F5F2FA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8" name="Shape 16"/>
          <p:cNvSpPr/>
          <p:nvPr/>
        </p:nvSpPr>
        <p:spPr>
          <a:xfrm>
            <a:off x="5577840" y="2148840"/>
            <a:ext cx="435541" cy="274320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9" name="Text 17"/>
          <p:cNvSpPr/>
          <p:nvPr/>
        </p:nvSpPr>
        <p:spPr>
          <a:xfrm>
            <a:off x="5577840" y="2468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b="1" noProof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h</a:t>
            </a:r>
            <a:endParaRPr lang="es-MX" sz="1200" noProof="0" dirty="0"/>
          </a:p>
        </p:txBody>
      </p:sp>
      <p:sp>
        <p:nvSpPr>
          <p:cNvPr id="20" name="Text 18"/>
          <p:cNvSpPr/>
          <p:nvPr/>
        </p:nvSpPr>
        <p:spPr>
          <a:xfrm>
            <a:off x="4663440" y="2971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b="1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</a:t>
            </a:r>
            <a:endParaRPr lang="es-MX" sz="1400" b="1" noProof="0" dirty="0"/>
          </a:p>
        </p:txBody>
      </p:sp>
      <p:sp>
        <p:nvSpPr>
          <p:cNvPr id="21" name="Shape 19"/>
          <p:cNvSpPr/>
          <p:nvPr/>
        </p:nvSpPr>
        <p:spPr>
          <a:xfrm>
            <a:off x="5577840" y="3017520"/>
            <a:ext cx="3017520" cy="274320"/>
          </a:xfrm>
          <a:prstGeom prst="rect">
            <a:avLst/>
          </a:prstGeom>
          <a:solidFill>
            <a:srgbClr val="F5F2FA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22" name="Shape 20"/>
          <p:cNvSpPr/>
          <p:nvPr/>
        </p:nvSpPr>
        <p:spPr>
          <a:xfrm>
            <a:off x="5577840" y="3017520"/>
            <a:ext cx="871083" cy="274320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23" name="Text 21"/>
          <p:cNvSpPr/>
          <p:nvPr/>
        </p:nvSpPr>
        <p:spPr>
          <a:xfrm>
            <a:off x="5577840" y="3337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b="1" noProof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 h</a:t>
            </a:r>
            <a:endParaRPr lang="es-MX" sz="1200" noProof="0" dirty="0"/>
          </a:p>
        </p:txBody>
      </p:sp>
      <p:sp>
        <p:nvSpPr>
          <p:cNvPr id="24" name="Text 22"/>
          <p:cNvSpPr/>
          <p:nvPr/>
        </p:nvSpPr>
        <p:spPr>
          <a:xfrm>
            <a:off x="4663440" y="3840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b="1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</a:t>
            </a:r>
            <a:endParaRPr lang="es-MX" sz="1400" b="1" noProof="0" dirty="0"/>
          </a:p>
        </p:txBody>
      </p:sp>
      <p:sp>
        <p:nvSpPr>
          <p:cNvPr id="25" name="Shape 23"/>
          <p:cNvSpPr/>
          <p:nvPr/>
        </p:nvSpPr>
        <p:spPr>
          <a:xfrm>
            <a:off x="5577840" y="3886200"/>
            <a:ext cx="3017520" cy="274320"/>
          </a:xfrm>
          <a:prstGeom prst="rect">
            <a:avLst/>
          </a:prstGeom>
          <a:solidFill>
            <a:srgbClr val="F5F2FA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26" name="Shape 24"/>
          <p:cNvSpPr/>
          <p:nvPr/>
        </p:nvSpPr>
        <p:spPr>
          <a:xfrm>
            <a:off x="5577840" y="3886200"/>
            <a:ext cx="3017520" cy="274320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27" name="Text 25"/>
          <p:cNvSpPr/>
          <p:nvPr/>
        </p:nvSpPr>
        <p:spPr>
          <a:xfrm>
            <a:off x="5577840" y="4206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b="1" noProof="0">
                <a:solidFill>
                  <a:srgbClr val="00B8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1,152 h</a:t>
            </a:r>
            <a:endParaRPr lang="es-MX" sz="1200" noProof="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100" b="1" i="1" noProof="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Más de 1,000 horas al año dedicadas a tareas administrativas repetitivas.</a:t>
            </a:r>
            <a:endParaRPr lang="es-MX" sz="1100" b="1" noProof="0" dirty="0"/>
          </a:p>
        </p:txBody>
      </p:sp>
      <p:sp>
        <p:nvSpPr>
          <p:cNvPr id="30" name="Text 28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i="1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Inteligente · Gestión de Eventos</a:t>
            </a:r>
            <a:endParaRPr lang="es-MX" sz="900" noProof="0" dirty="0"/>
          </a:p>
        </p:txBody>
      </p:sp>
      <p:sp>
        <p:nvSpPr>
          <p:cNvPr id="31" name="Text 29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s-MX" sz="900" noProof="0" dirty="0"/>
          </a:p>
        </p:txBody>
      </p:sp>
      <p:sp>
        <p:nvSpPr>
          <p:cNvPr id="32" name="Shape 30"/>
          <p:cNvSpPr/>
          <p:nvPr/>
        </p:nvSpPr>
        <p:spPr>
          <a:xfrm>
            <a:off x="7735824" y="4946904"/>
            <a:ext cx="73152" cy="73152"/>
          </a:xfrm>
          <a:prstGeom prst="ellipse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mayor costo es el tiempo que pierdes</a:t>
            </a:r>
            <a:endParaRPr lang="es-MX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i="1" noProof="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hora invertida en tareas administrativas es una hora menos para:</a:t>
            </a:r>
            <a:endParaRPr lang="es-MX" sz="1400" noProof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914400" y="2313432"/>
            <a:ext cx="164592" cy="164592"/>
          </a:xfrm>
          <a:prstGeom prst="ellipse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6" name="Text 4"/>
          <p:cNvSpPr/>
          <p:nvPr/>
        </p:nvSpPr>
        <p:spPr>
          <a:xfrm>
            <a:off x="1280160" y="21945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7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Atender clientes con dedicación</a:t>
            </a:r>
            <a:endParaRPr lang="es-MX" sz="1700" noProof="0" dirty="0"/>
          </a:p>
        </p:txBody>
      </p:sp>
      <p:sp>
        <p:nvSpPr>
          <p:cNvPr id="7" name="Shape 5"/>
          <p:cNvSpPr/>
          <p:nvPr/>
        </p:nvSpPr>
        <p:spPr>
          <a:xfrm>
            <a:off x="914400" y="2724912"/>
            <a:ext cx="164592" cy="164592"/>
          </a:xfrm>
          <a:prstGeom prst="ellipse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8" name="Text 6"/>
          <p:cNvSpPr/>
          <p:nvPr/>
        </p:nvSpPr>
        <p:spPr>
          <a:xfrm>
            <a:off x="1280160" y="26060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7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 nuevos eventos</a:t>
            </a:r>
            <a:endParaRPr lang="es-MX" sz="1700" noProof="0" dirty="0"/>
          </a:p>
        </p:txBody>
      </p:sp>
      <p:sp>
        <p:nvSpPr>
          <p:cNvPr id="9" name="Shape 7"/>
          <p:cNvSpPr/>
          <p:nvPr/>
        </p:nvSpPr>
        <p:spPr>
          <a:xfrm>
            <a:off x="914400" y="3136392"/>
            <a:ext cx="164592" cy="164592"/>
          </a:xfrm>
          <a:prstGeom prst="ellipse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0" name="Text 8"/>
          <p:cNvSpPr/>
          <p:nvPr/>
        </p:nvSpPr>
        <p:spPr>
          <a:xfrm>
            <a:off x="1280160" y="30175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7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Supervisar la operación diaria</a:t>
            </a:r>
            <a:endParaRPr lang="es-MX" sz="1700" noProof="0" dirty="0"/>
          </a:p>
        </p:txBody>
      </p:sp>
      <p:sp>
        <p:nvSpPr>
          <p:cNvPr id="11" name="Shape 9"/>
          <p:cNvSpPr/>
          <p:nvPr/>
        </p:nvSpPr>
        <p:spPr>
          <a:xfrm>
            <a:off x="914400" y="3547872"/>
            <a:ext cx="164592" cy="164592"/>
          </a:xfrm>
          <a:prstGeom prst="ellipse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2" name="Text 10"/>
          <p:cNvSpPr/>
          <p:nvPr/>
        </p:nvSpPr>
        <p:spPr>
          <a:xfrm>
            <a:off x="1280160" y="34290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7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el servicio que ofrece</a:t>
            </a:r>
            <a:endParaRPr lang="es-MX" sz="1700" noProof="0" dirty="0"/>
          </a:p>
        </p:txBody>
      </p:sp>
      <p:sp>
        <p:nvSpPr>
          <p:cNvPr id="13" name="Shape 11"/>
          <p:cNvSpPr/>
          <p:nvPr/>
        </p:nvSpPr>
        <p:spPr>
          <a:xfrm>
            <a:off x="914400" y="3959352"/>
            <a:ext cx="164592" cy="164592"/>
          </a:xfrm>
          <a:prstGeom prst="ellipse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4" name="Text 12"/>
          <p:cNvSpPr/>
          <p:nvPr/>
        </p:nvSpPr>
        <p:spPr>
          <a:xfrm>
            <a:off x="1280160" y="38404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7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 más tiempo personal</a:t>
            </a:r>
            <a:endParaRPr lang="es-MX" sz="1700" noProof="0" dirty="0"/>
          </a:p>
        </p:txBody>
      </p:sp>
      <p:sp>
        <p:nvSpPr>
          <p:cNvPr id="15" name="Shape 1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100" b="1" i="1" noProof="0">
                <a:solidFill>
                  <a:srgbClr val="00B8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tiempo es el recurso más valioso del negocio.</a:t>
            </a:r>
            <a:endParaRPr lang="es-MX" sz="1100" noProof="0" dirty="0"/>
          </a:p>
        </p:txBody>
      </p:sp>
      <p:sp>
        <p:nvSpPr>
          <p:cNvPr id="17" name="Text 15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i="1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Inteligente · Gestión de Eventos</a:t>
            </a:r>
            <a:endParaRPr lang="es-MX" sz="900" noProof="0" dirty="0"/>
          </a:p>
        </p:txBody>
      </p:sp>
      <p:sp>
        <p:nvSpPr>
          <p:cNvPr id="18" name="Text 16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s-MX" sz="900" noProof="0" dirty="0"/>
          </a:p>
        </p:txBody>
      </p:sp>
      <p:sp>
        <p:nvSpPr>
          <p:cNvPr id="19" name="Shape 17"/>
          <p:cNvSpPr/>
          <p:nvPr/>
        </p:nvSpPr>
        <p:spPr>
          <a:xfrm>
            <a:off x="7735824" y="4946904"/>
            <a:ext cx="73152" cy="73152"/>
          </a:xfrm>
          <a:prstGeom prst="ellipse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4065496A-25CB-C269-E9D4-A41E6D31A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9BBFA110-F58D-9B71-EE6E-AEB5641D4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3969" y="2039055"/>
            <a:ext cx="3012831" cy="23866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800" b="1" noProof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sola captura. Múltiples resultados.</a:t>
            </a:r>
            <a:endParaRPr lang="es-MX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518904" y="2326141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5" name="Text 3"/>
          <p:cNvSpPr/>
          <p:nvPr/>
        </p:nvSpPr>
        <p:spPr>
          <a:xfrm>
            <a:off x="518904" y="2326141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2200" b="1" noProof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sola</a:t>
            </a:r>
            <a:endParaRPr lang="es-MX" sz="2200" noProof="0"/>
          </a:p>
          <a:p>
            <a:pPr marL="0" indent="0" algn="ctr">
              <a:buNone/>
            </a:pPr>
            <a:r>
              <a:rPr lang="es-MX" sz="2200" b="1" noProof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captura</a:t>
            </a:r>
            <a:endParaRPr lang="es-MX" sz="2200" noProof="0"/>
          </a:p>
        </p:txBody>
      </p:sp>
      <p:sp>
        <p:nvSpPr>
          <p:cNvPr id="6" name="Shape 4"/>
          <p:cNvSpPr/>
          <p:nvPr/>
        </p:nvSpPr>
        <p:spPr>
          <a:xfrm>
            <a:off x="2509398" y="3011941"/>
            <a:ext cx="822960" cy="0"/>
          </a:xfrm>
          <a:prstGeom prst="line">
            <a:avLst/>
          </a:prstGeom>
          <a:noFill/>
          <a:ln w="2540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7" name="Shape 5"/>
          <p:cNvSpPr/>
          <p:nvPr/>
        </p:nvSpPr>
        <p:spPr>
          <a:xfrm>
            <a:off x="3307824" y="2946223"/>
            <a:ext cx="108000" cy="108000"/>
          </a:xfrm>
          <a:prstGeom prst="ellipse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8" name="Shape 6"/>
          <p:cNvSpPr/>
          <p:nvPr/>
        </p:nvSpPr>
        <p:spPr>
          <a:xfrm>
            <a:off x="3452418" y="1783080"/>
            <a:ext cx="2560320" cy="1143000"/>
          </a:xfrm>
          <a:prstGeom prst="rect">
            <a:avLst/>
          </a:prstGeom>
          <a:solidFill>
            <a:srgbClr val="F5F2FA"/>
          </a:solidFill>
          <a:ln w="635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9" name="Shape 7"/>
          <p:cNvSpPr/>
          <p:nvPr/>
        </p:nvSpPr>
        <p:spPr>
          <a:xfrm>
            <a:off x="3452418" y="1783080"/>
            <a:ext cx="45720" cy="1143000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0" name="Text 8"/>
          <p:cNvSpPr/>
          <p:nvPr/>
        </p:nvSpPr>
        <p:spPr>
          <a:xfrm>
            <a:off x="3589578" y="178308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6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generados</a:t>
            </a:r>
            <a:endParaRPr lang="es-MX" sz="1600" noProof="0" dirty="0"/>
          </a:p>
          <a:p>
            <a:pPr marL="0" indent="0" algn="ctr">
              <a:buNone/>
            </a:pPr>
            <a:r>
              <a:rPr lang="es-MX" sz="16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automáticamente</a:t>
            </a:r>
            <a:endParaRPr lang="es-MX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6097860" y="1783080"/>
            <a:ext cx="2560320" cy="1143000"/>
          </a:xfrm>
          <a:prstGeom prst="rect">
            <a:avLst/>
          </a:prstGeom>
          <a:solidFill>
            <a:srgbClr val="F5F2FA"/>
          </a:solidFill>
          <a:ln w="635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2" name="Shape 10"/>
          <p:cNvSpPr/>
          <p:nvPr/>
        </p:nvSpPr>
        <p:spPr>
          <a:xfrm>
            <a:off x="6097860" y="1783080"/>
            <a:ext cx="45720" cy="1143000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3" name="Text 11"/>
          <p:cNvSpPr/>
          <p:nvPr/>
        </p:nvSpPr>
        <p:spPr>
          <a:xfrm>
            <a:off x="6235020" y="178308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6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Cronogramas listos</a:t>
            </a:r>
            <a:endParaRPr lang="es-MX" sz="1600" noProof="0" dirty="0"/>
          </a:p>
          <a:p>
            <a:pPr marL="0" indent="0" algn="ctr">
              <a:buNone/>
            </a:pPr>
            <a:r>
              <a:rPr lang="es-MX" sz="16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esfuerzo</a:t>
            </a:r>
            <a:endParaRPr lang="es-MX" sz="1600" noProof="0" dirty="0"/>
          </a:p>
        </p:txBody>
      </p:sp>
      <p:sp>
        <p:nvSpPr>
          <p:cNvPr id="14" name="Shape 12"/>
          <p:cNvSpPr/>
          <p:nvPr/>
        </p:nvSpPr>
        <p:spPr>
          <a:xfrm>
            <a:off x="3452418" y="3108960"/>
            <a:ext cx="2560320" cy="1143000"/>
          </a:xfrm>
          <a:prstGeom prst="rect">
            <a:avLst/>
          </a:prstGeom>
          <a:solidFill>
            <a:srgbClr val="F5F2FA"/>
          </a:solidFill>
          <a:ln w="635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5" name="Shape 13"/>
          <p:cNvSpPr/>
          <p:nvPr/>
        </p:nvSpPr>
        <p:spPr>
          <a:xfrm>
            <a:off x="3452418" y="3108960"/>
            <a:ext cx="45720" cy="1143000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6" name="Text 14"/>
          <p:cNvSpPr/>
          <p:nvPr/>
        </p:nvSpPr>
        <p:spPr>
          <a:xfrm>
            <a:off x="3589578" y="31089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6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organizadas</a:t>
            </a:r>
            <a:endParaRPr lang="es-MX" sz="1600" noProof="0" dirty="0"/>
          </a:p>
          <a:p>
            <a:pPr marL="0" indent="0" algn="ctr">
              <a:buNone/>
            </a:pPr>
            <a:r>
              <a:rPr lang="es-MX" sz="16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asignadas</a:t>
            </a:r>
            <a:endParaRPr lang="es-MX" sz="1600" noProof="0" dirty="0"/>
          </a:p>
        </p:txBody>
      </p:sp>
      <p:sp>
        <p:nvSpPr>
          <p:cNvPr id="17" name="Shape 15"/>
          <p:cNvSpPr/>
          <p:nvPr/>
        </p:nvSpPr>
        <p:spPr>
          <a:xfrm>
            <a:off x="6097860" y="3108960"/>
            <a:ext cx="2560320" cy="1143000"/>
          </a:xfrm>
          <a:prstGeom prst="rect">
            <a:avLst/>
          </a:prstGeom>
          <a:solidFill>
            <a:srgbClr val="F5F2FA"/>
          </a:solidFill>
          <a:ln w="635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8" name="Shape 16"/>
          <p:cNvSpPr/>
          <p:nvPr/>
        </p:nvSpPr>
        <p:spPr>
          <a:xfrm>
            <a:off x="6097860" y="3108960"/>
            <a:ext cx="45720" cy="1143000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9" name="Text 17"/>
          <p:cNvSpPr/>
          <p:nvPr/>
        </p:nvSpPr>
        <p:spPr>
          <a:xfrm>
            <a:off x="6235020" y="31089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6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centralizada</a:t>
            </a:r>
            <a:endParaRPr lang="es-MX" sz="1600" noProof="0" dirty="0"/>
          </a:p>
          <a:p>
            <a:pPr marL="0" indent="0" algn="ctr">
              <a:buNone/>
            </a:pPr>
            <a:r>
              <a:rPr lang="es-MX" sz="16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siempre lista</a:t>
            </a:r>
            <a:endParaRPr lang="es-MX" sz="1600" noProof="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100" b="1" i="1" noProof="0">
                <a:solidFill>
                  <a:srgbClr val="00B8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Menos trabajo repetitivo. Más control.</a:t>
            </a:r>
            <a:endParaRPr lang="es-MX" sz="1100" noProof="0" dirty="0"/>
          </a:p>
        </p:txBody>
      </p:sp>
      <p:sp>
        <p:nvSpPr>
          <p:cNvPr id="22" name="Text 20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i="1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Inteligente · Gestión de Eventos</a:t>
            </a:r>
            <a:endParaRPr lang="es-MX" sz="900" noProof="0" dirty="0"/>
          </a:p>
        </p:txBody>
      </p:sp>
      <p:sp>
        <p:nvSpPr>
          <p:cNvPr id="23" name="Text 21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s-MX" sz="900" noProof="0" dirty="0"/>
          </a:p>
        </p:txBody>
      </p:sp>
      <p:sp>
        <p:nvSpPr>
          <p:cNvPr id="24" name="Shape 22"/>
          <p:cNvSpPr/>
          <p:nvPr/>
        </p:nvSpPr>
        <p:spPr>
          <a:xfrm>
            <a:off x="7735824" y="4946904"/>
            <a:ext cx="73152" cy="73152"/>
          </a:xfrm>
          <a:prstGeom prst="ellipse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25" name="Abrir corchete 24">
            <a:extLst>
              <a:ext uri="{FF2B5EF4-FFF2-40B4-BE49-F238E27FC236}">
                <a16:creationId xmlns:a16="http://schemas.microsoft.com/office/drawing/2014/main" id="{B3A42F26-9264-593D-5C97-BEF95BFDBC42}"/>
              </a:ext>
            </a:extLst>
          </p:cNvPr>
          <p:cNvSpPr/>
          <p:nvPr/>
        </p:nvSpPr>
        <p:spPr>
          <a:xfrm>
            <a:off x="3363805" y="1747024"/>
            <a:ext cx="45719" cy="2527237"/>
          </a:xfrm>
          <a:prstGeom prst="leftBracket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7" name="Abrir corchete 26">
            <a:extLst>
              <a:ext uri="{FF2B5EF4-FFF2-40B4-BE49-F238E27FC236}">
                <a16:creationId xmlns:a16="http://schemas.microsoft.com/office/drawing/2014/main" id="{9D8E2424-64FF-C081-60C5-E5C8A8CBD79B}"/>
              </a:ext>
            </a:extLst>
          </p:cNvPr>
          <p:cNvSpPr/>
          <p:nvPr/>
        </p:nvSpPr>
        <p:spPr>
          <a:xfrm rot="10800000">
            <a:off x="8697776" y="1743310"/>
            <a:ext cx="45719" cy="2527237"/>
          </a:xfrm>
          <a:prstGeom prst="leftBracket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800" b="1" noProof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 y después</a:t>
            </a:r>
            <a:endParaRPr lang="es-MX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3200400"/>
          </a:xfrm>
          <a:prstGeom prst="rect">
            <a:avLst/>
          </a:prstGeom>
          <a:solidFill>
            <a:srgbClr val="F5F2FA"/>
          </a:solidFill>
          <a:ln w="12700">
            <a:solidFill>
              <a:srgbClr val="8E8E9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023360" cy="640080"/>
          </a:xfrm>
          <a:prstGeom prst="rect">
            <a:avLst/>
          </a:prstGeom>
          <a:solidFill>
            <a:srgbClr val="8E8E9C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2200" b="1" kern="0" spc="400" noProof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</a:t>
            </a:r>
            <a:endParaRPr lang="es-MX" sz="2200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400" b="1" i="1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manual</a:t>
            </a:r>
            <a:endParaRPr lang="es-MX" sz="1400" b="1" noProof="0" dirty="0"/>
          </a:p>
        </p:txBody>
      </p:sp>
      <p:sp>
        <p:nvSpPr>
          <p:cNvPr id="8" name="Shape 6"/>
          <p:cNvSpPr/>
          <p:nvPr/>
        </p:nvSpPr>
        <p:spPr>
          <a:xfrm>
            <a:off x="731520" y="2816352"/>
            <a:ext cx="109728" cy="109728"/>
          </a:xfrm>
          <a:prstGeom prst="ellipse">
            <a:avLst/>
          </a:prstGeom>
          <a:solidFill>
            <a:srgbClr val="8E8E9C"/>
          </a:solidFill>
          <a:ln/>
        </p:spPr>
        <p:txBody>
          <a:bodyPr/>
          <a:lstStyle/>
          <a:p>
            <a:endParaRPr lang="es-MX" sz="2000" noProof="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4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horas por evento</a:t>
            </a:r>
            <a:endParaRPr lang="es-MX" sz="1400" noProof="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109728" cy="109728"/>
          </a:xfrm>
          <a:prstGeom prst="ellipse">
            <a:avLst/>
          </a:prstGeom>
          <a:solidFill>
            <a:srgbClr val="8E8E9C"/>
          </a:solidFill>
          <a:ln/>
        </p:spPr>
        <p:txBody>
          <a:bodyPr/>
          <a:lstStyle/>
          <a:p>
            <a:endParaRPr lang="es-MX" sz="2000" noProof="0" dirty="0"/>
          </a:p>
        </p:txBody>
      </p:sp>
      <p:sp>
        <p:nvSpPr>
          <p:cNvPr id="11" name="Text 9"/>
          <p:cNvSpPr/>
          <p:nvPr/>
        </p:nvSpPr>
        <p:spPr>
          <a:xfrm>
            <a:off x="914400" y="30815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4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manuales</a:t>
            </a:r>
            <a:endParaRPr lang="es-MX" sz="1400" noProof="0" dirty="0"/>
          </a:p>
        </p:txBody>
      </p:sp>
      <p:sp>
        <p:nvSpPr>
          <p:cNvPr id="12" name="Shape 10"/>
          <p:cNvSpPr/>
          <p:nvPr/>
        </p:nvSpPr>
        <p:spPr>
          <a:xfrm>
            <a:off x="731520" y="3584448"/>
            <a:ext cx="109728" cy="109728"/>
          </a:xfrm>
          <a:prstGeom prst="ellipse">
            <a:avLst/>
          </a:prstGeom>
          <a:solidFill>
            <a:srgbClr val="8E8E9C"/>
          </a:solidFill>
          <a:ln/>
        </p:spPr>
        <p:txBody>
          <a:bodyPr/>
          <a:lstStyle/>
          <a:p>
            <a:endParaRPr lang="es-MX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914400" y="34655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4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duplicada</a:t>
            </a:r>
            <a:endParaRPr lang="es-MX" sz="1400" noProof="0" dirty="0"/>
          </a:p>
        </p:txBody>
      </p:sp>
      <p:sp>
        <p:nvSpPr>
          <p:cNvPr id="14" name="Shape 12"/>
          <p:cNvSpPr/>
          <p:nvPr/>
        </p:nvSpPr>
        <p:spPr>
          <a:xfrm>
            <a:off x="731520" y="3968496"/>
            <a:ext cx="109728" cy="109728"/>
          </a:xfrm>
          <a:prstGeom prst="ellipse">
            <a:avLst/>
          </a:prstGeom>
          <a:solidFill>
            <a:srgbClr val="8E8E9C"/>
          </a:solidFill>
          <a:ln/>
        </p:spPr>
        <p:txBody>
          <a:bodyPr/>
          <a:lstStyle/>
          <a:p>
            <a:endParaRPr lang="es-MX" sz="2000" noProof="0" dirty="0"/>
          </a:p>
        </p:txBody>
      </p:sp>
      <p:sp>
        <p:nvSpPr>
          <p:cNvPr id="15" name="Text 13"/>
          <p:cNvSpPr/>
          <p:nvPr/>
        </p:nvSpPr>
        <p:spPr>
          <a:xfrm>
            <a:off x="914400" y="38496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4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riesgo de errores</a:t>
            </a:r>
            <a:endParaRPr lang="es-MX" sz="1400" noProof="0" dirty="0"/>
          </a:p>
        </p:txBody>
      </p:sp>
      <p:sp>
        <p:nvSpPr>
          <p:cNvPr id="17" name="Text 15"/>
          <p:cNvSpPr/>
          <p:nvPr/>
        </p:nvSpPr>
        <p:spPr>
          <a:xfrm>
            <a:off x="914400" y="42336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MX" sz="1400" noProof="0" dirty="0"/>
          </a:p>
        </p:txBody>
      </p:sp>
      <p:sp>
        <p:nvSpPr>
          <p:cNvPr id="18" name="Shape 16"/>
          <p:cNvSpPr/>
          <p:nvPr/>
        </p:nvSpPr>
        <p:spPr>
          <a:xfrm>
            <a:off x="4663440" y="1554480"/>
            <a:ext cx="4023360" cy="3200400"/>
          </a:xfrm>
          <a:prstGeom prst="rect">
            <a:avLst/>
          </a:prstGeom>
          <a:solidFill>
            <a:srgbClr val="F5F2FA"/>
          </a:solidFill>
          <a:ln w="1270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9" name="Shape 17"/>
          <p:cNvSpPr/>
          <p:nvPr/>
        </p:nvSpPr>
        <p:spPr>
          <a:xfrm>
            <a:off x="4663440" y="1554480"/>
            <a:ext cx="4023360" cy="640080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20" name="Text 18"/>
          <p:cNvSpPr/>
          <p:nvPr/>
        </p:nvSpPr>
        <p:spPr>
          <a:xfrm>
            <a:off x="4663440" y="16002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2200" b="1" kern="0" spc="400" noProof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DESPUÉS</a:t>
            </a:r>
            <a:endParaRPr lang="es-MX" sz="2200" noProof="0" dirty="0"/>
          </a:p>
        </p:txBody>
      </p:sp>
      <p:sp>
        <p:nvSpPr>
          <p:cNvPr id="21" name="Text 19"/>
          <p:cNvSpPr/>
          <p:nvPr/>
        </p:nvSpPr>
        <p:spPr>
          <a:xfrm>
            <a:off x="4663440" y="22860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400" b="1" i="1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automatizada</a:t>
            </a:r>
            <a:endParaRPr lang="es-MX" sz="1400" b="1" noProof="0" dirty="0"/>
          </a:p>
        </p:txBody>
      </p:sp>
      <p:sp>
        <p:nvSpPr>
          <p:cNvPr id="22" name="Shape 20"/>
          <p:cNvSpPr/>
          <p:nvPr/>
        </p:nvSpPr>
        <p:spPr>
          <a:xfrm>
            <a:off x="4937760" y="2816352"/>
            <a:ext cx="109728" cy="109728"/>
          </a:xfrm>
          <a:prstGeom prst="ellipse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sz="2000" noProof="0" dirty="0"/>
          </a:p>
        </p:txBody>
      </p:sp>
      <p:sp>
        <p:nvSpPr>
          <p:cNvPr id="23" name="Text 21"/>
          <p:cNvSpPr/>
          <p:nvPr/>
        </p:nvSpPr>
        <p:spPr>
          <a:xfrm>
            <a:off x="5120640" y="2697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4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 60 min por evento</a:t>
            </a:r>
            <a:endParaRPr lang="es-MX" sz="1400" noProof="0" dirty="0"/>
          </a:p>
        </p:txBody>
      </p:sp>
      <p:sp>
        <p:nvSpPr>
          <p:cNvPr id="24" name="Shape 22"/>
          <p:cNvSpPr/>
          <p:nvPr/>
        </p:nvSpPr>
        <p:spPr>
          <a:xfrm>
            <a:off x="4937760" y="3200400"/>
            <a:ext cx="109728" cy="109728"/>
          </a:xfrm>
          <a:prstGeom prst="ellipse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sz="2000" noProof="0" dirty="0"/>
          </a:p>
        </p:txBody>
      </p:sp>
      <p:sp>
        <p:nvSpPr>
          <p:cNvPr id="25" name="Text 23"/>
          <p:cNvSpPr/>
          <p:nvPr/>
        </p:nvSpPr>
        <p:spPr>
          <a:xfrm>
            <a:off x="5120640" y="30815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4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centralizada</a:t>
            </a:r>
            <a:endParaRPr lang="es-MX" sz="1400" noProof="0" dirty="0"/>
          </a:p>
        </p:txBody>
      </p:sp>
      <p:sp>
        <p:nvSpPr>
          <p:cNvPr id="26" name="Shape 24"/>
          <p:cNvSpPr/>
          <p:nvPr/>
        </p:nvSpPr>
        <p:spPr>
          <a:xfrm>
            <a:off x="4937760" y="3584448"/>
            <a:ext cx="109728" cy="109728"/>
          </a:xfrm>
          <a:prstGeom prst="ellipse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sz="2000" noProof="0" dirty="0"/>
          </a:p>
        </p:txBody>
      </p:sp>
      <p:sp>
        <p:nvSpPr>
          <p:cNvPr id="27" name="Text 25"/>
          <p:cNvSpPr/>
          <p:nvPr/>
        </p:nvSpPr>
        <p:spPr>
          <a:xfrm>
            <a:off x="5120640" y="34655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4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automatizados</a:t>
            </a:r>
            <a:endParaRPr lang="es-MX" sz="1400" noProof="0" dirty="0"/>
          </a:p>
        </p:txBody>
      </p:sp>
      <p:sp>
        <p:nvSpPr>
          <p:cNvPr id="28" name="Shape 26"/>
          <p:cNvSpPr/>
          <p:nvPr/>
        </p:nvSpPr>
        <p:spPr>
          <a:xfrm>
            <a:off x="4937760" y="3968496"/>
            <a:ext cx="109728" cy="109728"/>
          </a:xfrm>
          <a:prstGeom prst="ellipse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sz="2000" noProof="0" dirty="0"/>
          </a:p>
        </p:txBody>
      </p:sp>
      <p:sp>
        <p:nvSpPr>
          <p:cNvPr id="29" name="Text 27"/>
          <p:cNvSpPr/>
          <p:nvPr/>
        </p:nvSpPr>
        <p:spPr>
          <a:xfrm>
            <a:off x="5120640" y="38496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4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errores</a:t>
            </a:r>
            <a:endParaRPr lang="es-MX" sz="1400" noProof="0" dirty="0"/>
          </a:p>
        </p:txBody>
      </p:sp>
      <p:sp>
        <p:nvSpPr>
          <p:cNvPr id="30" name="Shape 28"/>
          <p:cNvSpPr/>
          <p:nvPr/>
        </p:nvSpPr>
        <p:spPr>
          <a:xfrm>
            <a:off x="4937760" y="4352544"/>
            <a:ext cx="109728" cy="109728"/>
          </a:xfrm>
          <a:prstGeom prst="ellipse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sz="2000" noProof="0" dirty="0"/>
          </a:p>
        </p:txBody>
      </p:sp>
      <p:sp>
        <p:nvSpPr>
          <p:cNvPr id="31" name="Text 29"/>
          <p:cNvSpPr/>
          <p:nvPr/>
        </p:nvSpPr>
        <p:spPr>
          <a:xfrm>
            <a:off x="5120640" y="42336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4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control operativo</a:t>
            </a:r>
            <a:endParaRPr lang="es-MX" sz="1400" noProof="0" dirty="0"/>
          </a:p>
        </p:txBody>
      </p:sp>
      <p:sp>
        <p:nvSpPr>
          <p:cNvPr id="32" name="Text 30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i="1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Inteligente · Gestión de Eventos</a:t>
            </a:r>
            <a:endParaRPr lang="es-MX" sz="900" noProof="0" dirty="0"/>
          </a:p>
        </p:txBody>
      </p:sp>
      <p:sp>
        <p:nvSpPr>
          <p:cNvPr id="33" name="Text 31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1000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s-MX" sz="1000" noProof="0" dirty="0"/>
          </a:p>
        </p:txBody>
      </p:sp>
      <p:sp>
        <p:nvSpPr>
          <p:cNvPr id="34" name="Shape 32"/>
          <p:cNvSpPr/>
          <p:nvPr/>
        </p:nvSpPr>
        <p:spPr>
          <a:xfrm>
            <a:off x="7735824" y="4946904"/>
            <a:ext cx="73152" cy="73152"/>
          </a:xfrm>
          <a:prstGeom prst="ellipse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sz="20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800" b="1" noProof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realmente gana el negocio</a:t>
            </a:r>
            <a:endParaRPr lang="es-MX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606040" cy="1325880"/>
          </a:xfrm>
          <a:prstGeom prst="rect">
            <a:avLst/>
          </a:prstGeom>
          <a:solidFill>
            <a:srgbClr val="F5F2FA"/>
          </a:solidFill>
          <a:ln w="635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94360" cy="594360"/>
          </a:xfrm>
          <a:prstGeom prst="ellipse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s-MX" sz="2200" noProof="0" dirty="0"/>
          </a:p>
        </p:txBody>
      </p:sp>
      <p:sp>
        <p:nvSpPr>
          <p:cNvPr id="7" name="Text 5"/>
          <p:cNvSpPr/>
          <p:nvPr/>
        </p:nvSpPr>
        <p:spPr>
          <a:xfrm>
            <a:off x="1371600" y="18013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400" b="1" noProof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Más tiempo disponible</a:t>
            </a:r>
            <a:endParaRPr lang="es-MX" sz="1400" noProof="0" dirty="0"/>
          </a:p>
        </p:txBody>
      </p:sp>
      <p:sp>
        <p:nvSpPr>
          <p:cNvPr id="8" name="Text 6"/>
          <p:cNvSpPr/>
          <p:nvPr/>
        </p:nvSpPr>
        <p:spPr>
          <a:xfrm>
            <a:off x="1371600" y="216712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000" b="1" noProof="0" dirty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 horas para lo que importa.</a:t>
            </a:r>
            <a:endParaRPr lang="es-MX" sz="1000" b="1" noProof="0" dirty="0"/>
          </a:p>
        </p:txBody>
      </p:sp>
      <p:sp>
        <p:nvSpPr>
          <p:cNvPr id="9" name="Shape 7"/>
          <p:cNvSpPr/>
          <p:nvPr/>
        </p:nvSpPr>
        <p:spPr>
          <a:xfrm>
            <a:off x="3182112" y="1600200"/>
            <a:ext cx="2606040" cy="1325880"/>
          </a:xfrm>
          <a:prstGeom prst="rect">
            <a:avLst/>
          </a:prstGeom>
          <a:solidFill>
            <a:srgbClr val="F5F2FA"/>
          </a:solidFill>
          <a:ln w="635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0" name="Shape 8"/>
          <p:cNvSpPr/>
          <p:nvPr/>
        </p:nvSpPr>
        <p:spPr>
          <a:xfrm>
            <a:off x="3364992" y="1783080"/>
            <a:ext cx="594360" cy="594360"/>
          </a:xfrm>
          <a:prstGeom prst="ellipse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1" name="Text 9"/>
          <p:cNvSpPr/>
          <p:nvPr/>
        </p:nvSpPr>
        <p:spPr>
          <a:xfrm>
            <a:off x="3364992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2200" b="1" noProof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s-MX" sz="2200" noProof="0" dirty="0"/>
          </a:p>
        </p:txBody>
      </p:sp>
      <p:sp>
        <p:nvSpPr>
          <p:cNvPr id="12" name="Text 10"/>
          <p:cNvSpPr/>
          <p:nvPr/>
        </p:nvSpPr>
        <p:spPr>
          <a:xfrm>
            <a:off x="4096512" y="18013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400" b="1" noProof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Más capacidad operativa</a:t>
            </a:r>
            <a:endParaRPr lang="es-MX" sz="1400" noProof="0" dirty="0"/>
          </a:p>
        </p:txBody>
      </p:sp>
      <p:sp>
        <p:nvSpPr>
          <p:cNvPr id="13" name="Text 11"/>
          <p:cNvSpPr/>
          <p:nvPr/>
        </p:nvSpPr>
        <p:spPr>
          <a:xfrm>
            <a:off x="4096512" y="216712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000" b="1" noProof="0" dirty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Atiende más eventos sin sobrecarga.</a:t>
            </a:r>
            <a:endParaRPr lang="es-MX" sz="1000" b="1" noProof="0" dirty="0"/>
          </a:p>
        </p:txBody>
      </p:sp>
      <p:sp>
        <p:nvSpPr>
          <p:cNvPr id="14" name="Shape 12"/>
          <p:cNvSpPr/>
          <p:nvPr/>
        </p:nvSpPr>
        <p:spPr>
          <a:xfrm>
            <a:off x="5907024" y="1600200"/>
            <a:ext cx="2606040" cy="1325880"/>
          </a:xfrm>
          <a:prstGeom prst="rect">
            <a:avLst/>
          </a:prstGeom>
          <a:solidFill>
            <a:srgbClr val="F5F2FA"/>
          </a:solidFill>
          <a:ln w="635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5" name="Shape 13"/>
          <p:cNvSpPr/>
          <p:nvPr/>
        </p:nvSpPr>
        <p:spPr>
          <a:xfrm>
            <a:off x="6089904" y="1783080"/>
            <a:ext cx="594360" cy="594360"/>
          </a:xfrm>
          <a:prstGeom prst="ellipse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6" name="Text 14"/>
          <p:cNvSpPr/>
          <p:nvPr/>
        </p:nvSpPr>
        <p:spPr>
          <a:xfrm>
            <a:off x="6089904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2200" b="1" noProof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</a:t>
            </a:r>
            <a:endParaRPr lang="es-MX" sz="2200" noProof="0" dirty="0"/>
          </a:p>
        </p:txBody>
      </p:sp>
      <p:sp>
        <p:nvSpPr>
          <p:cNvPr id="17" name="Text 15"/>
          <p:cNvSpPr/>
          <p:nvPr/>
        </p:nvSpPr>
        <p:spPr>
          <a:xfrm>
            <a:off x="6821424" y="18013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400" b="1" noProof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Menos estrés administrativo</a:t>
            </a:r>
            <a:endParaRPr lang="es-MX" sz="1400" noProof="0" dirty="0"/>
          </a:p>
        </p:txBody>
      </p:sp>
      <p:sp>
        <p:nvSpPr>
          <p:cNvPr id="18" name="Text 16"/>
          <p:cNvSpPr/>
          <p:nvPr/>
        </p:nvSpPr>
        <p:spPr>
          <a:xfrm>
            <a:off x="6821424" y="216712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000" b="1" noProof="0" dirty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claros y consistentes.</a:t>
            </a:r>
            <a:endParaRPr lang="es-MX" sz="1000" b="1" noProof="0" dirty="0"/>
          </a:p>
        </p:txBody>
      </p:sp>
      <p:sp>
        <p:nvSpPr>
          <p:cNvPr id="19" name="Shape 17"/>
          <p:cNvSpPr/>
          <p:nvPr/>
        </p:nvSpPr>
        <p:spPr>
          <a:xfrm>
            <a:off x="457200" y="3090672"/>
            <a:ext cx="2606040" cy="1325880"/>
          </a:xfrm>
          <a:prstGeom prst="rect">
            <a:avLst/>
          </a:prstGeom>
          <a:solidFill>
            <a:srgbClr val="F5F2FA"/>
          </a:solidFill>
          <a:ln w="635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0" name="Shape 18"/>
          <p:cNvSpPr/>
          <p:nvPr/>
        </p:nvSpPr>
        <p:spPr>
          <a:xfrm>
            <a:off x="640080" y="3273552"/>
            <a:ext cx="594360" cy="594360"/>
          </a:xfrm>
          <a:prstGeom prst="ellipse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21" name="Text 19"/>
          <p:cNvSpPr/>
          <p:nvPr/>
        </p:nvSpPr>
        <p:spPr>
          <a:xfrm>
            <a:off x="640080" y="3273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2200" b="1" noProof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</a:t>
            </a:r>
            <a:endParaRPr lang="es-MX" sz="2200" noProof="0" dirty="0"/>
          </a:p>
        </p:txBody>
      </p:sp>
      <p:sp>
        <p:nvSpPr>
          <p:cNvPr id="22" name="Text 20"/>
          <p:cNvSpPr/>
          <p:nvPr/>
        </p:nvSpPr>
        <p:spPr>
          <a:xfrm>
            <a:off x="1371600" y="3291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400" b="1" noProof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Procesos estandarizados</a:t>
            </a:r>
            <a:endParaRPr lang="es-MX" sz="1400" noProof="0" dirty="0"/>
          </a:p>
        </p:txBody>
      </p:sp>
      <p:sp>
        <p:nvSpPr>
          <p:cNvPr id="23" name="Text 21"/>
          <p:cNvSpPr/>
          <p:nvPr/>
        </p:nvSpPr>
        <p:spPr>
          <a:xfrm>
            <a:off x="1371600" y="36576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000" b="1" noProof="0" dirty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pareja en cada evento.</a:t>
            </a:r>
            <a:endParaRPr lang="es-MX" sz="1000" b="1" noProof="0" dirty="0"/>
          </a:p>
        </p:txBody>
      </p:sp>
      <p:sp>
        <p:nvSpPr>
          <p:cNvPr id="24" name="Shape 22"/>
          <p:cNvSpPr/>
          <p:nvPr/>
        </p:nvSpPr>
        <p:spPr>
          <a:xfrm>
            <a:off x="3182112" y="3090672"/>
            <a:ext cx="2606040" cy="1325880"/>
          </a:xfrm>
          <a:prstGeom prst="rect">
            <a:avLst/>
          </a:prstGeom>
          <a:solidFill>
            <a:srgbClr val="F5F2FA"/>
          </a:solidFill>
          <a:ln w="635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5" name="Shape 23"/>
          <p:cNvSpPr/>
          <p:nvPr/>
        </p:nvSpPr>
        <p:spPr>
          <a:xfrm>
            <a:off x="3364992" y="3273552"/>
            <a:ext cx="594360" cy="594360"/>
          </a:xfrm>
          <a:prstGeom prst="ellipse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26" name="Text 24"/>
          <p:cNvSpPr/>
          <p:nvPr/>
        </p:nvSpPr>
        <p:spPr>
          <a:xfrm>
            <a:off x="3364992" y="3273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2200" b="1" noProof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endParaRPr lang="es-MX" sz="2200" noProof="0" dirty="0"/>
          </a:p>
        </p:txBody>
      </p:sp>
      <p:sp>
        <p:nvSpPr>
          <p:cNvPr id="27" name="Text 25"/>
          <p:cNvSpPr/>
          <p:nvPr/>
        </p:nvSpPr>
        <p:spPr>
          <a:xfrm>
            <a:off x="4096512" y="3291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400" b="1" noProof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Mejor organización</a:t>
            </a:r>
            <a:endParaRPr lang="es-MX" sz="1400" noProof="0" dirty="0"/>
          </a:p>
        </p:txBody>
      </p:sp>
      <p:sp>
        <p:nvSpPr>
          <p:cNvPr id="28" name="Text 26"/>
          <p:cNvSpPr/>
          <p:nvPr/>
        </p:nvSpPr>
        <p:spPr>
          <a:xfrm>
            <a:off x="4096512" y="36576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000" b="1" noProof="0" dirty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información en un solo lugar.</a:t>
            </a:r>
            <a:endParaRPr lang="es-MX" sz="1000" b="1" noProof="0" dirty="0"/>
          </a:p>
        </p:txBody>
      </p:sp>
      <p:sp>
        <p:nvSpPr>
          <p:cNvPr id="29" name="Shape 27"/>
          <p:cNvSpPr/>
          <p:nvPr/>
        </p:nvSpPr>
        <p:spPr>
          <a:xfrm>
            <a:off x="5907024" y="3090672"/>
            <a:ext cx="2606040" cy="1325880"/>
          </a:xfrm>
          <a:prstGeom prst="rect">
            <a:avLst/>
          </a:prstGeom>
          <a:solidFill>
            <a:srgbClr val="F5F2FA"/>
          </a:solidFill>
          <a:ln w="635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30" name="Shape 28"/>
          <p:cNvSpPr/>
          <p:nvPr/>
        </p:nvSpPr>
        <p:spPr>
          <a:xfrm>
            <a:off x="6089904" y="3273552"/>
            <a:ext cx="594360" cy="594360"/>
          </a:xfrm>
          <a:prstGeom prst="ellipse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1" name="Text 29"/>
          <p:cNvSpPr/>
          <p:nvPr/>
        </p:nvSpPr>
        <p:spPr>
          <a:xfrm>
            <a:off x="6089904" y="3273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2200" b="1" noProof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♥</a:t>
            </a:r>
            <a:endParaRPr lang="es-MX" sz="2200" noProof="0" dirty="0"/>
          </a:p>
        </p:txBody>
      </p:sp>
      <p:sp>
        <p:nvSpPr>
          <p:cNvPr id="32" name="Text 30"/>
          <p:cNvSpPr/>
          <p:nvPr/>
        </p:nvSpPr>
        <p:spPr>
          <a:xfrm>
            <a:off x="6821424" y="3291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400" b="1" noProof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Mejor atención al cliente</a:t>
            </a:r>
            <a:endParaRPr lang="es-MX" sz="1400" noProof="0" dirty="0"/>
          </a:p>
        </p:txBody>
      </p:sp>
      <p:sp>
        <p:nvSpPr>
          <p:cNvPr id="33" name="Text 31"/>
          <p:cNvSpPr/>
          <p:nvPr/>
        </p:nvSpPr>
        <p:spPr>
          <a:xfrm>
            <a:off x="6821424" y="36576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000" b="1" noProof="0" dirty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en la experiencia, no en papeles.</a:t>
            </a:r>
            <a:endParaRPr lang="es-MX" sz="1000" b="1" noProof="0" dirty="0"/>
          </a:p>
        </p:txBody>
      </p:sp>
      <p:sp>
        <p:nvSpPr>
          <p:cNvPr id="34" name="Text 32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i="1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Inteligente · Gestión de Eventos</a:t>
            </a:r>
            <a:endParaRPr lang="es-MX" sz="900" noProof="0" dirty="0"/>
          </a:p>
        </p:txBody>
      </p:sp>
      <p:sp>
        <p:nvSpPr>
          <p:cNvPr id="35" name="Text 33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s-MX" sz="900" noProof="0" dirty="0"/>
          </a:p>
        </p:txBody>
      </p:sp>
      <p:sp>
        <p:nvSpPr>
          <p:cNvPr id="36" name="Shape 34"/>
          <p:cNvSpPr/>
          <p:nvPr/>
        </p:nvSpPr>
        <p:spPr>
          <a:xfrm>
            <a:off x="7735824" y="4946904"/>
            <a:ext cx="73152" cy="73152"/>
          </a:xfrm>
          <a:prstGeom prst="ellipse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pic>
        <p:nvPicPr>
          <p:cNvPr id="40" name="Gráfico 39" descr="Reloj de arena lleno con relleno sólido">
            <a:extLst>
              <a:ext uri="{FF2B5EF4-FFF2-40B4-BE49-F238E27FC236}">
                <a16:creationId xmlns:a16="http://schemas.microsoft.com/office/drawing/2014/main" id="{52CBAF2F-CD09-6809-4AC2-0D85330735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260" y="1828260"/>
            <a:ext cx="504000" cy="50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800" b="1" noProof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</a:t>
            </a:r>
            <a:r>
              <a:rPr lang="es-MX" sz="2800" b="1" noProof="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inversión</a:t>
            </a:r>
            <a:r>
              <a:rPr lang="es-MX" sz="2800" b="1" noProof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que se recupera rápido</a:t>
            </a:r>
            <a:endParaRPr lang="es-MX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600" b="1" i="1" noProof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conservador</a:t>
            </a:r>
            <a:endParaRPr lang="es-MX" sz="1600" b="1" noProof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4114800" cy="502920"/>
          </a:xfrm>
          <a:prstGeom prst="rect">
            <a:avLst/>
          </a:prstGeom>
          <a:solidFill>
            <a:srgbClr val="F5F2FA"/>
          </a:solidFill>
          <a:ln w="635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s-MX" noProof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600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mensual</a:t>
            </a:r>
            <a:endParaRPr lang="es-MX" sz="1600" noProof="0"/>
          </a:p>
        </p:txBody>
      </p:sp>
      <p:sp>
        <p:nvSpPr>
          <p:cNvPr id="7" name="Text 5"/>
          <p:cNvSpPr/>
          <p:nvPr/>
        </p:nvSpPr>
        <p:spPr>
          <a:xfrm>
            <a:off x="2743200" y="2103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1400" b="1" noProof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 horas</a:t>
            </a:r>
            <a:endParaRPr lang="es-MX" sz="1400" noProof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4114800" cy="502920"/>
          </a:xfrm>
          <a:prstGeom prst="rect">
            <a:avLst/>
          </a:prstGeom>
          <a:solidFill>
            <a:srgbClr val="F5F2FA"/>
          </a:solidFill>
          <a:ln w="635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s-MX" noProof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600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cada hora</a:t>
            </a:r>
            <a:endParaRPr lang="es-MX" sz="1600" noProof="0"/>
          </a:p>
        </p:txBody>
      </p:sp>
      <p:sp>
        <p:nvSpPr>
          <p:cNvPr id="10" name="Text 8"/>
          <p:cNvSpPr/>
          <p:nvPr/>
        </p:nvSpPr>
        <p:spPr>
          <a:xfrm>
            <a:off x="2743200" y="2743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1400" b="1" noProof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 MXN</a:t>
            </a:r>
            <a:endParaRPr lang="es-MX" sz="1400" noProof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4114800" cy="502920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s-MX" noProof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600" noProof="0" dirty="0">
                <a:solidFill>
                  <a:schemeClr val="tx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recuperado / mes</a:t>
            </a:r>
            <a:endParaRPr lang="es-MX" sz="1600" noProof="0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43200" y="3383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1500" b="1" noProof="0" dirty="0">
                <a:solidFill>
                  <a:schemeClr val="tx1">
                    <a:lumMod val="9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$4,800 MXN</a:t>
            </a:r>
            <a:endParaRPr lang="es-MX" sz="1500" noProof="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46320" y="1600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600" b="1" i="1" noProof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vs. retorno mensual</a:t>
            </a:r>
            <a:endParaRPr lang="es-MX" sz="1600" b="1" noProof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6320" y="2194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b="1" noProof="0" dirty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única</a:t>
            </a:r>
            <a:endParaRPr lang="es-MX" sz="1100" b="1" noProof="0" dirty="0"/>
          </a:p>
        </p:txBody>
      </p:sp>
      <p:sp>
        <p:nvSpPr>
          <p:cNvPr id="16" name="Shape 14"/>
          <p:cNvSpPr/>
          <p:nvPr/>
        </p:nvSpPr>
        <p:spPr>
          <a:xfrm>
            <a:off x="4846320" y="2487168"/>
            <a:ext cx="1005840" cy="320040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s-MX" noProof="0"/>
          </a:p>
        </p:txBody>
      </p:sp>
      <p:sp>
        <p:nvSpPr>
          <p:cNvPr id="17" name="Text 15"/>
          <p:cNvSpPr/>
          <p:nvPr/>
        </p:nvSpPr>
        <p:spPr>
          <a:xfrm>
            <a:off x="589788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300" b="1" noProof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$10,000</a:t>
            </a:r>
            <a:endParaRPr lang="es-MX" sz="1300" noProof="0"/>
          </a:p>
        </p:txBody>
      </p:sp>
      <p:sp>
        <p:nvSpPr>
          <p:cNvPr id="18" name="Text 16"/>
          <p:cNvSpPr/>
          <p:nvPr/>
        </p:nvSpPr>
        <p:spPr>
          <a:xfrm>
            <a:off x="4846320" y="3063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b="1" noProof="0" dirty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en el segundo mes</a:t>
            </a:r>
            <a:endParaRPr lang="es-MX" sz="1100" b="1" noProof="0" dirty="0"/>
          </a:p>
        </p:txBody>
      </p:sp>
      <p:sp>
        <p:nvSpPr>
          <p:cNvPr id="19" name="Shape 17"/>
          <p:cNvSpPr/>
          <p:nvPr/>
        </p:nvSpPr>
        <p:spPr>
          <a:xfrm>
            <a:off x="4846320" y="3355848"/>
            <a:ext cx="3383280" cy="320040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/>
          </a:p>
        </p:txBody>
      </p:sp>
      <p:sp>
        <p:nvSpPr>
          <p:cNvPr id="20" name="Text 18"/>
          <p:cNvSpPr/>
          <p:nvPr/>
        </p:nvSpPr>
        <p:spPr>
          <a:xfrm>
            <a:off x="493776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400" b="1" noProof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$9,600</a:t>
            </a:r>
            <a:endParaRPr lang="es-MX" sz="1400" noProof="0"/>
          </a:p>
        </p:txBody>
      </p:sp>
      <p:sp>
        <p:nvSpPr>
          <p:cNvPr id="21" name="Text 19"/>
          <p:cNvSpPr/>
          <p:nvPr/>
        </p:nvSpPr>
        <p:spPr>
          <a:xfrm>
            <a:off x="4846320" y="3931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b="1" i="1" noProof="0">
                <a:solidFill>
                  <a:schemeClr val="accent1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0.96 ×  el costo recuperado en 60 días</a:t>
            </a:r>
            <a:endParaRPr lang="es-MX" sz="1300" noProof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100" b="1" i="1" noProof="0">
                <a:solidFill>
                  <a:srgbClr val="00B8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inversión se recupera en casi dos meses.</a:t>
            </a:r>
            <a:endParaRPr lang="es-MX" sz="1100" noProof="0" dirty="0"/>
          </a:p>
        </p:txBody>
      </p:sp>
      <p:sp>
        <p:nvSpPr>
          <p:cNvPr id="24" name="Text 22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i="1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Inteligente · Gestión de Eventos</a:t>
            </a:r>
            <a:endParaRPr lang="es-MX" sz="900" noProof="0"/>
          </a:p>
        </p:txBody>
      </p:sp>
      <p:sp>
        <p:nvSpPr>
          <p:cNvPr id="25" name="Text 23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s-MX" sz="900" noProof="0" dirty="0"/>
          </a:p>
        </p:txBody>
      </p:sp>
      <p:sp>
        <p:nvSpPr>
          <p:cNvPr id="26" name="Shape 24"/>
          <p:cNvSpPr/>
          <p:nvPr/>
        </p:nvSpPr>
        <p:spPr>
          <a:xfrm>
            <a:off x="7735824" y="4946904"/>
            <a:ext cx="73152" cy="73152"/>
          </a:xfrm>
          <a:prstGeom prst="ellipse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463040"/>
            <a:ext cx="3657600" cy="2377440"/>
          </a:xfrm>
          <a:prstGeom prst="rect">
            <a:avLst/>
          </a:prstGeom>
          <a:solidFill>
            <a:srgbClr val="F5F2FA"/>
          </a:solidFill>
          <a:ln w="1270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15544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3000" b="1" noProof="0">
                <a:solidFill>
                  <a:srgbClr val="00B8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</a:t>
            </a:r>
            <a:endParaRPr lang="es-MX" sz="13000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3337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600" b="1" i="1" noProof="0" dirty="0">
                <a:solidFill>
                  <a:schemeClr val="accent1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horas libres al mes</a:t>
            </a:r>
            <a:endParaRPr lang="es-MX" sz="1600" b="1" noProof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200" b="1" i="1" noProof="0" dirty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recuperadas para el negocio</a:t>
            </a:r>
            <a:endParaRPr lang="es-MX" sz="1200" b="1" noProof="0" dirty="0"/>
          </a:p>
        </p:txBody>
      </p:sp>
      <p:sp>
        <p:nvSpPr>
          <p:cNvPr id="6" name="Shape 4"/>
          <p:cNvSpPr/>
          <p:nvPr/>
        </p:nvSpPr>
        <p:spPr>
          <a:xfrm>
            <a:off x="4297680" y="777240"/>
            <a:ext cx="548640" cy="36576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7" name="Text 5"/>
          <p:cNvSpPr/>
          <p:nvPr/>
        </p:nvSpPr>
        <p:spPr>
          <a:xfrm>
            <a:off x="4297680" y="8686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200" b="1" noProof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harías con todo ese tiempo?</a:t>
            </a:r>
            <a:endParaRPr lang="es-MX" sz="2200" noProof="0" dirty="0"/>
          </a:p>
        </p:txBody>
      </p:sp>
      <p:sp>
        <p:nvSpPr>
          <p:cNvPr id="8" name="Shape 6"/>
          <p:cNvSpPr/>
          <p:nvPr/>
        </p:nvSpPr>
        <p:spPr>
          <a:xfrm>
            <a:off x="4297680" y="1938528"/>
            <a:ext cx="201168" cy="201168"/>
          </a:xfrm>
          <a:prstGeom prst="ellipse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9" name="Text 7"/>
          <p:cNvSpPr/>
          <p:nvPr/>
        </p:nvSpPr>
        <p:spPr>
          <a:xfrm>
            <a:off x="4297680" y="1938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200" b="1" noProof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s-MX" sz="1200" noProof="0" dirty="0"/>
          </a:p>
        </p:txBody>
      </p:sp>
      <p:sp>
        <p:nvSpPr>
          <p:cNvPr id="10" name="Text 8"/>
          <p:cNvSpPr/>
          <p:nvPr/>
        </p:nvSpPr>
        <p:spPr>
          <a:xfrm>
            <a:off x="4617720" y="1828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6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Atender a más clientes</a:t>
            </a:r>
            <a:endParaRPr lang="es-MX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4297680" y="2441448"/>
            <a:ext cx="201168" cy="201168"/>
          </a:xfrm>
          <a:prstGeom prst="ellipse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2" name="Text 10"/>
          <p:cNvSpPr/>
          <p:nvPr/>
        </p:nvSpPr>
        <p:spPr>
          <a:xfrm>
            <a:off x="4297680" y="2441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200" b="1" noProof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s-MX" sz="1200" noProof="0" dirty="0"/>
          </a:p>
        </p:txBody>
      </p:sp>
      <p:sp>
        <p:nvSpPr>
          <p:cNvPr id="13" name="Text 11"/>
          <p:cNvSpPr/>
          <p:nvPr/>
        </p:nvSpPr>
        <p:spPr>
          <a:xfrm>
            <a:off x="4617720" y="2331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6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más eventos</a:t>
            </a:r>
            <a:endParaRPr lang="es-MX" sz="1600" noProof="0" dirty="0"/>
          </a:p>
        </p:txBody>
      </p:sp>
      <p:sp>
        <p:nvSpPr>
          <p:cNvPr id="14" name="Shape 12"/>
          <p:cNvSpPr/>
          <p:nvPr/>
        </p:nvSpPr>
        <p:spPr>
          <a:xfrm>
            <a:off x="4297680" y="2944368"/>
            <a:ext cx="201168" cy="201168"/>
          </a:xfrm>
          <a:prstGeom prst="ellipse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5" name="Text 13"/>
          <p:cNvSpPr/>
          <p:nvPr/>
        </p:nvSpPr>
        <p:spPr>
          <a:xfrm>
            <a:off x="4297680" y="29443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200" b="1" noProof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s-MX" sz="1200" noProof="0" dirty="0"/>
          </a:p>
        </p:txBody>
      </p:sp>
      <p:sp>
        <p:nvSpPr>
          <p:cNvPr id="16" name="Text 14"/>
          <p:cNvSpPr/>
          <p:nvPr/>
        </p:nvSpPr>
        <p:spPr>
          <a:xfrm>
            <a:off x="4617720" y="2834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6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la experiencia que ofreces</a:t>
            </a:r>
            <a:endParaRPr lang="es-MX" sz="1600" noProof="0" dirty="0"/>
          </a:p>
        </p:txBody>
      </p:sp>
      <p:sp>
        <p:nvSpPr>
          <p:cNvPr id="17" name="Shape 15"/>
          <p:cNvSpPr/>
          <p:nvPr/>
        </p:nvSpPr>
        <p:spPr>
          <a:xfrm>
            <a:off x="4297680" y="3447288"/>
            <a:ext cx="201168" cy="201168"/>
          </a:xfrm>
          <a:prstGeom prst="ellipse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8" name="Text 16"/>
          <p:cNvSpPr/>
          <p:nvPr/>
        </p:nvSpPr>
        <p:spPr>
          <a:xfrm>
            <a:off x="4297680" y="3447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200" b="1" noProof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s-MX" sz="1200" noProof="0" dirty="0"/>
          </a:p>
        </p:txBody>
      </p:sp>
      <p:sp>
        <p:nvSpPr>
          <p:cNvPr id="19" name="Text 17"/>
          <p:cNvSpPr/>
          <p:nvPr/>
        </p:nvSpPr>
        <p:spPr>
          <a:xfrm>
            <a:off x="4617720" y="3337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6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Delegar con mayor facilidad</a:t>
            </a:r>
            <a:endParaRPr lang="es-MX" sz="1600" noProof="0" dirty="0"/>
          </a:p>
        </p:txBody>
      </p:sp>
      <p:sp>
        <p:nvSpPr>
          <p:cNvPr id="20" name="Shape 18"/>
          <p:cNvSpPr/>
          <p:nvPr/>
        </p:nvSpPr>
        <p:spPr>
          <a:xfrm>
            <a:off x="4297680" y="3950208"/>
            <a:ext cx="201168" cy="201168"/>
          </a:xfrm>
          <a:prstGeom prst="ellipse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21" name="Text 19"/>
          <p:cNvSpPr/>
          <p:nvPr/>
        </p:nvSpPr>
        <p:spPr>
          <a:xfrm>
            <a:off x="4297680" y="39502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200" b="1" noProof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s-MX" sz="1200" noProof="0" dirty="0"/>
          </a:p>
        </p:txBody>
      </p:sp>
      <p:sp>
        <p:nvSpPr>
          <p:cNvPr id="22" name="Text 20"/>
          <p:cNvSpPr/>
          <p:nvPr/>
        </p:nvSpPr>
        <p:spPr>
          <a:xfrm>
            <a:off x="4617720" y="38404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6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 más tiempo para ti y tu familia</a:t>
            </a:r>
            <a:endParaRPr lang="es-MX" sz="1600" noProof="0" dirty="0"/>
          </a:p>
        </p:txBody>
      </p:sp>
      <p:sp>
        <p:nvSpPr>
          <p:cNvPr id="23" name="Text 2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i="1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Inteligente · Gestión de Eventos</a:t>
            </a:r>
            <a:endParaRPr lang="es-MX" sz="900" noProof="0" dirty="0"/>
          </a:p>
        </p:txBody>
      </p:sp>
      <p:sp>
        <p:nvSpPr>
          <p:cNvPr id="24" name="Text 22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s-MX" sz="900" noProof="0" dirty="0"/>
          </a:p>
        </p:txBody>
      </p:sp>
      <p:sp>
        <p:nvSpPr>
          <p:cNvPr id="25" name="Shape 23"/>
          <p:cNvSpPr/>
          <p:nvPr/>
        </p:nvSpPr>
        <p:spPr>
          <a:xfrm>
            <a:off x="7735824" y="4946904"/>
            <a:ext cx="73152" cy="73152"/>
          </a:xfrm>
          <a:prstGeom prst="ellipse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800" b="1" noProof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 formas de operar el sistema</a:t>
            </a:r>
            <a:endParaRPr lang="es-MX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3200400"/>
          </a:xfrm>
          <a:prstGeom prst="rect">
            <a:avLst/>
          </a:prstGeom>
          <a:solidFill>
            <a:srgbClr val="F5F2FA"/>
          </a:solidFill>
          <a:ln w="1270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000" b="1" kern="0" spc="400" noProof="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1</a:t>
            </a:r>
            <a:endParaRPr lang="es-MX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200" b="1" noProof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Local</a:t>
            </a:r>
            <a:endParaRPr lang="es-MX" sz="2200" noProof="0" dirty="0"/>
          </a:p>
        </p:txBody>
      </p:sp>
      <p:sp>
        <p:nvSpPr>
          <p:cNvPr id="7" name="Text 5"/>
          <p:cNvSpPr/>
          <p:nvPr/>
        </p:nvSpPr>
        <p:spPr>
          <a:xfrm>
            <a:off x="610344" y="22699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b="1" i="1" noProof="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Instalado en una computadora</a:t>
            </a:r>
            <a:endParaRPr lang="es-MX" sz="1100" b="1" noProof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6700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b="1" kern="0" spc="300" noProof="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s-MX" sz="900" noProof="0" dirty="0">
              <a:solidFill>
                <a:srgbClr val="00B05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0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Menor costo total</a:t>
            </a:r>
            <a:endParaRPr lang="es-MX" sz="1000" noProof="0" dirty="0"/>
          </a:p>
        </p:txBody>
      </p:sp>
      <p:sp>
        <p:nvSpPr>
          <p:cNvPr id="10" name="Text 8"/>
          <p:cNvSpPr/>
          <p:nvPr/>
        </p:nvSpPr>
        <p:spPr>
          <a:xfrm>
            <a:off x="640080" y="31729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0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Sin mensualidades</a:t>
            </a:r>
            <a:endParaRPr lang="es-MX" sz="1000" noProof="0" dirty="0"/>
          </a:p>
        </p:txBody>
      </p:sp>
      <p:sp>
        <p:nvSpPr>
          <p:cNvPr id="11" name="Text 9"/>
          <p:cNvSpPr/>
          <p:nvPr/>
        </p:nvSpPr>
        <p:spPr>
          <a:xfrm>
            <a:off x="640080" y="34655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0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Información en sitio</a:t>
            </a:r>
            <a:endParaRPr lang="es-MX" sz="1000" noProof="0" dirty="0"/>
          </a:p>
        </p:txBody>
      </p:sp>
      <p:sp>
        <p:nvSpPr>
          <p:cNvPr id="12" name="Text 10"/>
          <p:cNvSpPr/>
          <p:nvPr/>
        </p:nvSpPr>
        <p:spPr>
          <a:xfrm>
            <a:off x="2468880" y="26700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b="1" kern="0" spc="3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considerar</a:t>
            </a:r>
            <a:endParaRPr lang="es-MX" sz="900" noProof="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2468880" y="2880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000" noProof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Acceso limitado</a:t>
            </a:r>
            <a:endParaRPr lang="es-MX" sz="1000" noProof="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2468880" y="31729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000" noProof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Respaldos manuales</a:t>
            </a:r>
            <a:endParaRPr lang="es-MX" sz="1000" noProof="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2468880" y="34655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000" noProof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Depende de un equipo</a:t>
            </a:r>
            <a:endParaRPr lang="es-MX" sz="1000" noProof="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4251960"/>
            <a:ext cx="4023360" cy="502920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7" name="Text 15"/>
          <p:cNvSpPr/>
          <p:nvPr/>
        </p:nvSpPr>
        <p:spPr>
          <a:xfrm>
            <a:off x="640080" y="4251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600" b="1" noProof="0" dirty="0">
                <a:solidFill>
                  <a:schemeClr val="tx1">
                    <a:lumMod val="9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$10,000 MXN</a:t>
            </a:r>
            <a:endParaRPr lang="es-MX" sz="1600" noProof="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2286000" y="4251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1000" i="1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única</a:t>
            </a:r>
            <a:endParaRPr lang="es-MX" sz="1000" noProof="0" dirty="0"/>
          </a:p>
        </p:txBody>
      </p:sp>
      <p:sp>
        <p:nvSpPr>
          <p:cNvPr id="19" name="Shape 17"/>
          <p:cNvSpPr/>
          <p:nvPr/>
        </p:nvSpPr>
        <p:spPr>
          <a:xfrm>
            <a:off x="4663440" y="1554480"/>
            <a:ext cx="4023360" cy="3200400"/>
          </a:xfrm>
          <a:prstGeom prst="rect">
            <a:avLst/>
          </a:prstGeom>
          <a:solidFill>
            <a:srgbClr val="F5F2FA"/>
          </a:solidFill>
          <a:ln w="1270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0" name="Text 18"/>
          <p:cNvSpPr/>
          <p:nvPr/>
        </p:nvSpPr>
        <p:spPr>
          <a:xfrm>
            <a:off x="4846320" y="1691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000" b="1" kern="0" spc="400" noProof="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2</a:t>
            </a:r>
            <a:endParaRPr lang="es-MX" sz="1000" noProof="0" dirty="0"/>
          </a:p>
        </p:txBody>
      </p:sp>
      <p:sp>
        <p:nvSpPr>
          <p:cNvPr id="21" name="Text 19"/>
          <p:cNvSpPr/>
          <p:nvPr/>
        </p:nvSpPr>
        <p:spPr>
          <a:xfrm>
            <a:off x="4846320" y="19385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200" b="1" noProof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en la Nube</a:t>
            </a:r>
            <a:endParaRPr lang="es-MX" sz="2200" noProof="0" dirty="0"/>
          </a:p>
        </p:txBody>
      </p:sp>
      <p:sp>
        <p:nvSpPr>
          <p:cNvPr id="22" name="Text 20"/>
          <p:cNvSpPr/>
          <p:nvPr/>
        </p:nvSpPr>
        <p:spPr>
          <a:xfrm>
            <a:off x="4816584" y="22699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b="1" i="1" noProof="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desde cualquier lugar</a:t>
            </a:r>
            <a:endParaRPr lang="es-MX" sz="1100" b="1" noProof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46320" y="26700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b="1" kern="0" spc="300" noProof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s-MX" sz="900" noProof="0" dirty="0">
              <a:solidFill>
                <a:srgbClr val="00B050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46320" y="2880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0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Trabajo remoto y multiusuario</a:t>
            </a:r>
            <a:endParaRPr lang="es-MX" sz="1000" noProof="0" dirty="0"/>
          </a:p>
        </p:txBody>
      </p:sp>
      <p:sp>
        <p:nvSpPr>
          <p:cNvPr id="25" name="Text 23"/>
          <p:cNvSpPr/>
          <p:nvPr/>
        </p:nvSpPr>
        <p:spPr>
          <a:xfrm>
            <a:off x="4846320" y="31729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0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Respaldos automáticos</a:t>
            </a:r>
            <a:endParaRPr lang="es-MX" sz="1000" noProof="0" dirty="0"/>
          </a:p>
        </p:txBody>
      </p:sp>
      <p:sp>
        <p:nvSpPr>
          <p:cNvPr id="26" name="Text 24"/>
          <p:cNvSpPr/>
          <p:nvPr/>
        </p:nvSpPr>
        <p:spPr>
          <a:xfrm>
            <a:off x="4846320" y="34655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0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Mayor seguridad</a:t>
            </a:r>
            <a:endParaRPr lang="es-MX" sz="1000" noProof="0" dirty="0"/>
          </a:p>
        </p:txBody>
      </p:sp>
      <p:sp>
        <p:nvSpPr>
          <p:cNvPr id="27" name="Text 25"/>
          <p:cNvSpPr/>
          <p:nvPr/>
        </p:nvSpPr>
        <p:spPr>
          <a:xfrm>
            <a:off x="6675120" y="26700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b="1" kern="0" spc="3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considerar</a:t>
            </a:r>
            <a:endParaRPr lang="es-MX" sz="900" noProof="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6675120" y="2880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000" noProof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Requiere internet</a:t>
            </a:r>
            <a:endParaRPr lang="es-MX" sz="1000" noProof="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6675120" y="31729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000" noProof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Costo de infraestructura</a:t>
            </a:r>
            <a:endParaRPr lang="es-MX" sz="1000" noProof="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663440" y="4251960"/>
            <a:ext cx="4023360" cy="502920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1" name="Text 29"/>
          <p:cNvSpPr/>
          <p:nvPr/>
        </p:nvSpPr>
        <p:spPr>
          <a:xfrm>
            <a:off x="4846320" y="4251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600" b="1" noProof="0" dirty="0">
                <a:solidFill>
                  <a:schemeClr val="tx1">
                    <a:lumMod val="9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$4,800 MXN</a:t>
            </a:r>
            <a:endParaRPr lang="es-MX" sz="1600" noProof="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92240" y="4251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1000" i="1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año (VPS + dominio)</a:t>
            </a:r>
            <a:endParaRPr lang="es-MX" sz="1000" noProof="0" dirty="0"/>
          </a:p>
        </p:txBody>
      </p:sp>
      <p:sp>
        <p:nvSpPr>
          <p:cNvPr id="33" name="Text 3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i="1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Inteligente · Gestión de Eventos</a:t>
            </a:r>
            <a:endParaRPr lang="es-MX" sz="900" noProof="0" dirty="0"/>
          </a:p>
        </p:txBody>
      </p:sp>
      <p:sp>
        <p:nvSpPr>
          <p:cNvPr id="34" name="Text 32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s-MX" sz="900" noProof="0" dirty="0"/>
          </a:p>
        </p:txBody>
      </p:sp>
      <p:sp>
        <p:nvSpPr>
          <p:cNvPr id="35" name="Shape 33"/>
          <p:cNvSpPr/>
          <p:nvPr/>
        </p:nvSpPr>
        <p:spPr>
          <a:xfrm>
            <a:off x="7735824" y="4946904"/>
            <a:ext cx="73152" cy="73152"/>
          </a:xfrm>
          <a:prstGeom prst="ellipse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7BAC90CB-04D1-C963-62C3-23A48A416AD9}"/>
              </a:ext>
            </a:extLst>
          </p:cNvPr>
          <p:cNvSpPr/>
          <p:nvPr/>
        </p:nvSpPr>
        <p:spPr>
          <a:xfrm>
            <a:off x="2468880" y="3770153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000" b="1" noProof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Capturar </a:t>
            </a:r>
            <a:r>
              <a:rPr lang="es-MX" sz="1000" b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 </a:t>
            </a:r>
            <a:r>
              <a:rPr lang="es-MX" sz="1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cliente</a:t>
            </a:r>
            <a:endParaRPr lang="es-MX" sz="1000" b="1" noProof="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800" b="1" noProof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Comparación de costos · primer año</a:t>
            </a:r>
            <a:endParaRPr lang="es-MX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1828800" y="1600200"/>
            <a:ext cx="6858000" cy="457200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5" name="Text 3"/>
          <p:cNvSpPr/>
          <p:nvPr/>
        </p:nvSpPr>
        <p:spPr>
          <a:xfrm>
            <a:off x="1828800" y="1600200"/>
            <a:ext cx="3291840" cy="4572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marL="0" indent="0" algn="l">
              <a:buNone/>
            </a:pPr>
            <a:r>
              <a:rPr lang="es-MX" sz="1200" b="1" noProof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s-MX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5120640" y="1600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200" b="1" noProof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Local</a:t>
            </a:r>
            <a:endParaRPr lang="es-MX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6903720" y="1600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200" b="1" noProof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Nube</a:t>
            </a:r>
            <a:endParaRPr lang="es-MX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1828800" y="2057400"/>
            <a:ext cx="6858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9" name="Text 7"/>
          <p:cNvSpPr/>
          <p:nvPr/>
        </p:nvSpPr>
        <p:spPr>
          <a:xfrm>
            <a:off x="1965960" y="2057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2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del sistema</a:t>
            </a:r>
            <a:endParaRPr lang="es-MX" sz="1200" noProof="0" dirty="0"/>
          </a:p>
        </p:txBody>
      </p:sp>
      <p:sp>
        <p:nvSpPr>
          <p:cNvPr id="10" name="Text 8"/>
          <p:cNvSpPr/>
          <p:nvPr/>
        </p:nvSpPr>
        <p:spPr>
          <a:xfrm>
            <a:off x="5120640" y="2057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200" noProof="0">
                <a:solidFill>
                  <a:srgbClr val="7DC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$10,000</a:t>
            </a:r>
            <a:endParaRPr lang="es-MX" sz="1200" noProof="0" dirty="0"/>
          </a:p>
        </p:txBody>
      </p:sp>
      <p:sp>
        <p:nvSpPr>
          <p:cNvPr id="11" name="Text 9"/>
          <p:cNvSpPr/>
          <p:nvPr/>
        </p:nvSpPr>
        <p:spPr>
          <a:xfrm>
            <a:off x="6903720" y="2057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200" noProof="0">
                <a:solidFill>
                  <a:srgbClr val="7DC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$10,000</a:t>
            </a:r>
            <a:endParaRPr lang="es-MX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1828800" y="2606040"/>
            <a:ext cx="6858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3" name="Text 11"/>
          <p:cNvSpPr/>
          <p:nvPr/>
        </p:nvSpPr>
        <p:spPr>
          <a:xfrm>
            <a:off x="1965960" y="2606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2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+ dominio (anual)</a:t>
            </a:r>
            <a:endParaRPr lang="es-MX" sz="1200" noProof="0" dirty="0"/>
          </a:p>
        </p:txBody>
      </p:sp>
      <p:sp>
        <p:nvSpPr>
          <p:cNvPr id="14" name="Text 12"/>
          <p:cNvSpPr/>
          <p:nvPr/>
        </p:nvSpPr>
        <p:spPr>
          <a:xfrm>
            <a:off x="5120640" y="26060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200" noProof="0">
                <a:solidFill>
                  <a:srgbClr val="7DC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s-MX" sz="1200" noProof="0" dirty="0"/>
          </a:p>
        </p:txBody>
      </p:sp>
      <p:sp>
        <p:nvSpPr>
          <p:cNvPr id="15" name="Text 13"/>
          <p:cNvSpPr/>
          <p:nvPr/>
        </p:nvSpPr>
        <p:spPr>
          <a:xfrm>
            <a:off x="6903720" y="26060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200" noProof="0">
                <a:solidFill>
                  <a:srgbClr val="7DC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$4,800</a:t>
            </a:r>
            <a:endParaRPr lang="es-MX" sz="1200" noProof="0" dirty="0"/>
          </a:p>
        </p:txBody>
      </p:sp>
      <p:sp>
        <p:nvSpPr>
          <p:cNvPr id="16" name="Shape 14"/>
          <p:cNvSpPr/>
          <p:nvPr/>
        </p:nvSpPr>
        <p:spPr>
          <a:xfrm>
            <a:off x="1828800" y="3154680"/>
            <a:ext cx="6858000" cy="548640"/>
          </a:xfrm>
          <a:prstGeom prst="rect">
            <a:avLst/>
          </a:prstGeom>
          <a:solidFill>
            <a:srgbClr val="F5F2FA"/>
          </a:solidFill>
          <a:ln w="635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7" name="Shape 15"/>
          <p:cNvSpPr/>
          <p:nvPr/>
        </p:nvSpPr>
        <p:spPr>
          <a:xfrm>
            <a:off x="1828800" y="3154680"/>
            <a:ext cx="6858000" cy="45720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8" name="Text 16"/>
          <p:cNvSpPr/>
          <p:nvPr/>
        </p:nvSpPr>
        <p:spPr>
          <a:xfrm>
            <a:off x="1965960" y="3154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300" b="1" noProof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primer año</a:t>
            </a:r>
            <a:endParaRPr lang="es-MX" sz="1300" noProof="0" dirty="0"/>
          </a:p>
        </p:txBody>
      </p:sp>
      <p:sp>
        <p:nvSpPr>
          <p:cNvPr id="19" name="Text 17"/>
          <p:cNvSpPr/>
          <p:nvPr/>
        </p:nvSpPr>
        <p:spPr>
          <a:xfrm>
            <a:off x="5120640" y="31546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400" b="1" noProof="0">
                <a:solidFill>
                  <a:srgbClr val="00B8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$10,000 MXN</a:t>
            </a:r>
            <a:endParaRPr lang="es-MX" sz="1400" noProof="0" dirty="0"/>
          </a:p>
        </p:txBody>
      </p:sp>
      <p:sp>
        <p:nvSpPr>
          <p:cNvPr id="20" name="Text 18"/>
          <p:cNvSpPr/>
          <p:nvPr/>
        </p:nvSpPr>
        <p:spPr>
          <a:xfrm>
            <a:off x="6903720" y="31546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400" b="1" noProof="0">
                <a:solidFill>
                  <a:srgbClr val="00B8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$14,800 MXN</a:t>
            </a:r>
            <a:endParaRPr lang="es-MX" sz="1400" noProof="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100" b="1" i="1" noProof="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La diferencia equivale a ≈ $400 MXN al mes.</a:t>
            </a:r>
            <a:endParaRPr lang="es-MX" sz="1100" noProof="0" dirty="0"/>
          </a:p>
        </p:txBody>
      </p:sp>
      <p:sp>
        <p:nvSpPr>
          <p:cNvPr id="23" name="Text 2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i="1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Inteligente · Gestión de Eventos</a:t>
            </a:r>
            <a:endParaRPr lang="es-MX" sz="900" noProof="0" dirty="0"/>
          </a:p>
        </p:txBody>
      </p:sp>
      <p:sp>
        <p:nvSpPr>
          <p:cNvPr id="24" name="Text 22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s-MX" sz="900" noProof="0" dirty="0"/>
          </a:p>
        </p:txBody>
      </p:sp>
      <p:sp>
        <p:nvSpPr>
          <p:cNvPr id="25" name="Shape 23"/>
          <p:cNvSpPr/>
          <p:nvPr/>
        </p:nvSpPr>
        <p:spPr>
          <a:xfrm>
            <a:off x="7735824" y="4946904"/>
            <a:ext cx="73152" cy="73152"/>
          </a:xfrm>
          <a:prstGeom prst="ellipse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800" b="1" noProof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Recomendación</a:t>
            </a:r>
            <a:endParaRPr lang="es-MX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023360" cy="2743200"/>
          </a:xfrm>
          <a:prstGeom prst="rect">
            <a:avLst/>
          </a:prstGeom>
          <a:solidFill>
            <a:srgbClr val="F5F2FA"/>
          </a:solidFill>
          <a:ln w="635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023360" cy="45720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5000" b="1" noProof="0">
                <a:solidFill>
                  <a:srgbClr val="00B8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s-MX" sz="5000" noProof="0" dirty="0"/>
          </a:p>
        </p:txBody>
      </p:sp>
      <p:sp>
        <p:nvSpPr>
          <p:cNvPr id="7" name="Text 5"/>
          <p:cNvSpPr/>
          <p:nvPr/>
        </p:nvSpPr>
        <p:spPr>
          <a:xfrm>
            <a:off x="2011680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800" b="1" noProof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1 · Hoy</a:t>
            </a:r>
            <a:endParaRPr lang="es-MX" sz="1800" noProof="0" dirty="0"/>
          </a:p>
        </p:txBody>
      </p:sp>
      <p:sp>
        <p:nvSpPr>
          <p:cNvPr id="8" name="Text 6"/>
          <p:cNvSpPr/>
          <p:nvPr/>
        </p:nvSpPr>
        <p:spPr>
          <a:xfrm>
            <a:off x="2011680" y="2240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i="1" noProof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local</a:t>
            </a:r>
            <a:endParaRPr lang="es-MX" sz="1200" noProof="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la versión local para comenzar a obtener beneficios desde el primer mes.</a:t>
            </a:r>
            <a:endParaRPr lang="es-MX" sz="1300" noProof="0" dirty="0"/>
          </a:p>
        </p:txBody>
      </p:sp>
      <p:sp>
        <p:nvSpPr>
          <p:cNvPr id="10" name="Shape 8"/>
          <p:cNvSpPr/>
          <p:nvPr/>
        </p:nvSpPr>
        <p:spPr>
          <a:xfrm>
            <a:off x="4663440" y="1600200"/>
            <a:ext cx="4023360" cy="2743200"/>
          </a:xfrm>
          <a:prstGeom prst="rect">
            <a:avLst/>
          </a:prstGeom>
          <a:solidFill>
            <a:srgbClr val="F5F2FA"/>
          </a:solidFill>
          <a:ln w="635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1" name="Shape 9"/>
          <p:cNvSpPr/>
          <p:nvPr/>
        </p:nvSpPr>
        <p:spPr>
          <a:xfrm>
            <a:off x="4663440" y="1600200"/>
            <a:ext cx="4023360" cy="45720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2" name="Text 10"/>
          <p:cNvSpPr/>
          <p:nvPr/>
        </p:nvSpPr>
        <p:spPr>
          <a:xfrm>
            <a:off x="4937760" y="17830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5000" b="1" noProof="0">
                <a:solidFill>
                  <a:srgbClr val="00B8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s-MX" sz="5000" noProof="0" dirty="0"/>
          </a:p>
        </p:txBody>
      </p:sp>
      <p:sp>
        <p:nvSpPr>
          <p:cNvPr id="13" name="Text 11"/>
          <p:cNvSpPr/>
          <p:nvPr/>
        </p:nvSpPr>
        <p:spPr>
          <a:xfrm>
            <a:off x="6217920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800" b="1" noProof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2 · Mañana</a:t>
            </a:r>
            <a:endParaRPr lang="es-MX" sz="1800" noProof="0" dirty="0"/>
          </a:p>
        </p:txBody>
      </p:sp>
      <p:sp>
        <p:nvSpPr>
          <p:cNvPr id="14" name="Text 12"/>
          <p:cNvSpPr/>
          <p:nvPr/>
        </p:nvSpPr>
        <p:spPr>
          <a:xfrm>
            <a:off x="6217920" y="2240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i="1" noProof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a la nube</a:t>
            </a:r>
            <a:endParaRPr lang="es-MX" sz="1200" noProof="0" dirty="0"/>
          </a:p>
        </p:txBody>
      </p:sp>
      <p:sp>
        <p:nvSpPr>
          <p:cNvPr id="15" name="Text 13"/>
          <p:cNvSpPr/>
          <p:nvPr/>
        </p:nvSpPr>
        <p:spPr>
          <a:xfrm>
            <a:off x="4937760" y="28346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cuando el negocio requiera acceso remoto, mayor seguridad o trabajo en equipo.</a:t>
            </a:r>
            <a:endParaRPr lang="es-MX" sz="1300" noProof="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100" b="1" i="1" noProof="0">
                <a:solidFill>
                  <a:srgbClr val="00B8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Comienza con una inversión accesible y escala cuando tu negocio lo necesite.</a:t>
            </a:r>
            <a:endParaRPr lang="es-MX" sz="1100" noProof="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i="1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Inteligente · Gestión de Eventos</a:t>
            </a:r>
            <a:endParaRPr lang="es-MX" sz="900" noProof="0" dirty="0"/>
          </a:p>
        </p:txBody>
      </p:sp>
      <p:sp>
        <p:nvSpPr>
          <p:cNvPr id="19" name="Text 17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s-MX" sz="900" noProof="0" dirty="0"/>
          </a:p>
        </p:txBody>
      </p:sp>
      <p:sp>
        <p:nvSpPr>
          <p:cNvPr id="20" name="Shape 18"/>
          <p:cNvSpPr/>
          <p:nvPr/>
        </p:nvSpPr>
        <p:spPr>
          <a:xfrm>
            <a:off x="7735824" y="4946904"/>
            <a:ext cx="73152" cy="73152"/>
          </a:xfrm>
          <a:prstGeom prst="ellipse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0" cy="27432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27432" cy="548640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4" name="Shape 2"/>
          <p:cNvSpPr/>
          <p:nvPr/>
        </p:nvSpPr>
        <p:spPr>
          <a:xfrm>
            <a:off x="7589520" y="365760"/>
            <a:ext cx="1097280" cy="27432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5" name="Shape 3"/>
          <p:cNvSpPr/>
          <p:nvPr/>
        </p:nvSpPr>
        <p:spPr>
          <a:xfrm>
            <a:off x="8659368" y="365760"/>
            <a:ext cx="27432" cy="548640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3200" b="1" noProof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Menos tiempo administrando.</a:t>
            </a:r>
            <a:endParaRPr lang="es-MX" sz="32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3200" b="1" i="1" noProof="0">
                <a:solidFill>
                  <a:srgbClr val="00B8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Más tiempo creciendo.</a:t>
            </a:r>
            <a:endParaRPr lang="es-MX" sz="3200" noProof="0" dirty="0"/>
          </a:p>
        </p:txBody>
      </p:sp>
      <p:sp>
        <p:nvSpPr>
          <p:cNvPr id="8" name="Shape 6"/>
          <p:cNvSpPr/>
          <p:nvPr/>
        </p:nvSpPr>
        <p:spPr>
          <a:xfrm>
            <a:off x="4114800" y="2286000"/>
            <a:ext cx="914400" cy="27432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100" b="1" kern="0" spc="800" noProof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</a:t>
            </a:r>
            <a:endParaRPr lang="es-MX" sz="1100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4000" b="1" noProof="0">
                <a:solidFill>
                  <a:srgbClr val="00B8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$10,000 MXN</a:t>
            </a:r>
            <a:endParaRPr lang="es-MX" sz="4000" noProof="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400" b="1" noProof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s-MX" sz="1400" noProof="0" dirty="0"/>
          </a:p>
        </p:txBody>
      </p:sp>
      <p:sp>
        <p:nvSpPr>
          <p:cNvPr id="12" name="Text 10"/>
          <p:cNvSpPr/>
          <p:nvPr/>
        </p:nvSpPr>
        <p:spPr>
          <a:xfrm>
            <a:off x="914400" y="3520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1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336 horas recuperadas al mes</a:t>
            </a:r>
            <a:endParaRPr lang="es-MX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338328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400" b="1" noProof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s-MX" sz="1400" noProof="0" dirty="0"/>
          </a:p>
        </p:txBody>
      </p:sp>
      <p:sp>
        <p:nvSpPr>
          <p:cNvPr id="14" name="Text 12"/>
          <p:cNvSpPr/>
          <p:nvPr/>
        </p:nvSpPr>
        <p:spPr>
          <a:xfrm>
            <a:off x="3657600" y="3520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1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errores</a:t>
            </a:r>
            <a:endParaRPr lang="es-MX" sz="1100" noProof="0" dirty="0"/>
          </a:p>
        </p:txBody>
      </p:sp>
      <p:sp>
        <p:nvSpPr>
          <p:cNvPr id="15" name="Text 13"/>
          <p:cNvSpPr/>
          <p:nvPr/>
        </p:nvSpPr>
        <p:spPr>
          <a:xfrm>
            <a:off x="612648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400" b="1" noProof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s-MX" sz="1400" noProof="0" dirty="0"/>
          </a:p>
        </p:txBody>
      </p:sp>
      <p:sp>
        <p:nvSpPr>
          <p:cNvPr id="16" name="Text 14"/>
          <p:cNvSpPr/>
          <p:nvPr/>
        </p:nvSpPr>
        <p:spPr>
          <a:xfrm>
            <a:off x="6400800" y="3520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1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organización</a:t>
            </a:r>
            <a:endParaRPr lang="es-MX" sz="1100" noProof="0" dirty="0"/>
          </a:p>
        </p:txBody>
      </p:sp>
      <p:sp>
        <p:nvSpPr>
          <p:cNvPr id="17" name="Text 15"/>
          <p:cNvSpPr/>
          <p:nvPr/>
        </p:nvSpPr>
        <p:spPr>
          <a:xfrm>
            <a:off x="64008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400" b="1" noProof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s-MX" sz="1400" noProof="0" dirty="0"/>
          </a:p>
        </p:txBody>
      </p:sp>
      <p:sp>
        <p:nvSpPr>
          <p:cNvPr id="18" name="Text 16"/>
          <p:cNvSpPr/>
          <p:nvPr/>
        </p:nvSpPr>
        <p:spPr>
          <a:xfrm>
            <a:off x="914400" y="3840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1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capacidad operativa</a:t>
            </a:r>
            <a:endParaRPr lang="es-MX" sz="1100" noProof="0" dirty="0"/>
          </a:p>
        </p:txBody>
      </p:sp>
      <p:sp>
        <p:nvSpPr>
          <p:cNvPr id="19" name="Text 17"/>
          <p:cNvSpPr/>
          <p:nvPr/>
        </p:nvSpPr>
        <p:spPr>
          <a:xfrm>
            <a:off x="338328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400" b="1" noProof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s-MX" sz="1400" noProof="0" dirty="0"/>
          </a:p>
        </p:txBody>
      </p:sp>
      <p:sp>
        <p:nvSpPr>
          <p:cNvPr id="20" name="Text 18"/>
          <p:cNvSpPr/>
          <p:nvPr/>
        </p:nvSpPr>
        <p:spPr>
          <a:xfrm>
            <a:off x="3657600" y="3840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100" noProof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rápido de inversión</a:t>
            </a:r>
            <a:endParaRPr lang="es-MX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300" i="1" noProof="0">
                <a:solidFill>
                  <a:srgbClr val="FFC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"El objetivo no es trabajar más rápido. Es dejar de hacer trabajo repetitivo."</a:t>
            </a:r>
            <a:endParaRPr lang="es-MX" sz="1300" noProof="0" dirty="0"/>
          </a:p>
        </p:txBody>
      </p:sp>
      <p:sp>
        <p:nvSpPr>
          <p:cNvPr id="22" name="Text 20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i="1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Inteligente · Gestión de Eventos</a:t>
            </a:r>
            <a:endParaRPr lang="es-MX" sz="900" noProof="0" dirty="0"/>
          </a:p>
        </p:txBody>
      </p:sp>
      <p:sp>
        <p:nvSpPr>
          <p:cNvPr id="23" name="Text 21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>
                <a:solidFill>
                  <a:srgbClr val="7D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s-MX" sz="900" noProof="0" dirty="0"/>
          </a:p>
        </p:txBody>
      </p:sp>
      <p:sp>
        <p:nvSpPr>
          <p:cNvPr id="24" name="Shape 22"/>
          <p:cNvSpPr/>
          <p:nvPr/>
        </p:nvSpPr>
        <p:spPr>
          <a:xfrm>
            <a:off x="7735824" y="4946904"/>
            <a:ext cx="73152" cy="73152"/>
          </a:xfrm>
          <a:prstGeom prst="ellipse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MX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Violeta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523</TotalTime>
  <Words>777</Words>
  <Application>Microsoft Office PowerPoint</Application>
  <PresentationFormat>Presentación en pantalla (16:9)</PresentationFormat>
  <Paragraphs>223</Paragraphs>
  <Slides>13</Slides>
  <Notes>13</Notes>
  <HiddenSlides>2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Georgia</vt:lpstr>
      <vt:lpstr>Office 2013 - Tema de 2022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Pamela Martínez Salas</dc:creator>
  <cp:lastModifiedBy>Pamela Martínez Salas</cp:lastModifiedBy>
  <cp:revision>20</cp:revision>
  <dcterms:created xsi:type="dcterms:W3CDTF">2026-06-13T00:04:14Z</dcterms:created>
  <dcterms:modified xsi:type="dcterms:W3CDTF">2026-06-16T18:02:54Z</dcterms:modified>
</cp:coreProperties>
</file>